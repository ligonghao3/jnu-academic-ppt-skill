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9"/>
    <p:sldId id="266" r:id="rId10"/>
    <p:sldId id="267" r:id="rId11"/>
    <p:sldId id="268" r:id="rId12"/>
    <p:sldId id="269" r:id="rId14"/>
    <p:sldId id="270" r:id="rId15"/>
    <p:sldId id="271" r:id="rId16"/>
    <p:sldId id="272" r:id="rId8"/>
    <p:sldId id="273" r:id="rId7"/>
    <p:sldId id="274" r:id="rId6"/>
    <p:sldId id="275" r:id="rId5"/>
    <p:sldId id="276" r:id="rId4"/>
    <p:sldId id="277" r:id="rId3"/>
    <p:sldId id="278" r:id="rId2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3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0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4A639F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 = 1</c:v>
                </c:pt>
                <c:pt idx="1">
                  <c:v>h = 4</c:v>
                </c:pt>
                <c:pt idx="2">
                  <c:v>h = 8（base）</c:v>
                </c:pt>
                <c:pt idx="3">
                  <c:v>h = 16</c:v>
                </c:pt>
                <c:pt idx="4">
                  <c:v>h = 32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</c:v>
                </c:pt>
                <c:pt idx="1">
                  <c:v>25.5</c:v>
                </c:pt>
                <c:pt idx="2">
                  <c:v>25.8</c:v>
                </c:pt>
                <c:pt idx="3">
                  <c:v>25.8</c:v>
                </c:pt>
                <c:pt idx="4">
                  <c:v>25.4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700">
                  <a:solidFill>
                    <a:srgbClr val="2626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700" b="0">
                    <a:solidFill>
                      <a:srgbClr val="6B7280"/>
                    </a:solidFill>
                  </a:rPr>
                  <a:t>注意力头数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9D3E8"/>
            </a:solidFill>
          </a:ln>
        </c:spPr>
        <c:txPr>
          <a:bodyPr/>
          <a:lstStyle/>
          <a:p>
            <a:pPr>
              <a:defRPr sz="1700">
                <a:solidFill>
                  <a:srgbClr val="6B7280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6.0"/>
          <c:min val="24.5"/>
        </c:scaling>
        <c:delete val="0"/>
        <c:axPos val="l"/>
        <c:majorGridlines>
          <c:spPr>
            <a:ln w="9525">
              <a:solidFill>
                <a:srgbClr val="C9D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700" b="0">
                    <a:solidFill>
                      <a:srgbClr val="6B7280"/>
                    </a:solidFill>
                  </a:rPr>
                  <a:t>BLEU（newstest2013 开发集）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C9D3E8"/>
            </a:solidFill>
          </a:ln>
        </c:spPr>
        <c:txPr>
          <a:bodyPr/>
          <a:lstStyle/>
          <a:p>
            <a:pPr>
              <a:defRPr sz="1700">
                <a:solidFill>
                  <a:srgbClr val="6B7280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6B7280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 base 的 BLEU 变化</c:v>
                </c:pt>
              </c:strCache>
            </c:strRef>
          </c:tx>
          <c:spPr>
            <a:solidFill>
              <a:srgbClr val="4A639F"/>
            </a:solidFill>
          </c:spPr>
          <c:invertIfNegative val="0"/>
          <c:dPt>
            <c:idx val="0"/>
            <c:invertIfNegative val="0"/>
            <c:spPr>
              <a:solidFill>
                <a:srgbClr val="2F7D5B"/>
              </a:solidFill>
            </c:spPr>
          </c:dPt>
          <c:dPt>
            <c:idx val="1"/>
            <c:invertIfNegative val="0"/>
            <c:spPr>
              <a:solidFill>
                <a:srgbClr val="A8443C"/>
              </a:solidFill>
            </c:spPr>
          </c:dPt>
          <c:dPt>
            <c:idx val="2"/>
            <c:invertIfNegative val="0"/>
            <c:spPr>
              <a:solidFill>
                <a:srgbClr val="A8443C"/>
              </a:solidFill>
            </c:spPr>
          </c:dPt>
          <c:dPt>
            <c:idx val="3"/>
            <c:invertIfNegative val="0"/>
            <c:spPr>
              <a:solidFill>
                <a:srgbClr val="A8443C"/>
              </a:solidFill>
            </c:spPr>
          </c:dPt>
          <c:dPt>
            <c:idx val="4"/>
            <c:invertIfNegative val="0"/>
            <c:spPr>
              <a:solidFill>
                <a:srgbClr val="A8443C"/>
              </a:solidFill>
            </c:spPr>
          </c:dPt>
          <c:dPt>
            <c:idx val="5"/>
            <c:invertIfNegative val="0"/>
            <c:spPr>
              <a:solidFill>
                <a:srgbClr val="A8443C"/>
              </a:solidFill>
            </c:spPr>
          </c:dPt>
          <c:cat>
            <c:strRef>
              <c:f>Sheet1!$A$2:$A$7</c:f>
              <c:strCache>
                <c:ptCount val="6"/>
                <c:pt idx="0">
                  <c:v>big 模型（213M 参数）</c:v>
                </c:pt>
                <c:pt idx="1">
                  <c:v>可学习位置嵌入</c:v>
                </c:pt>
                <c:pt idx="2">
                  <c:v>去掉标签平滑</c:v>
                </c:pt>
                <c:pt idx="3">
                  <c:v>d_k 64 → 16</c:v>
                </c:pt>
                <c:pt idx="4">
                  <c:v>去掉 dropout</c:v>
                </c:pt>
                <c:pt idx="5">
                  <c:v>层数 6 →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-0.1</c:v>
                </c:pt>
                <c:pt idx="2">
                  <c:v>-0.5</c:v>
                </c:pt>
                <c:pt idx="3">
                  <c:v>-0.7</c:v>
                </c:pt>
                <c:pt idx="4">
                  <c:v>-1.2</c:v>
                </c:pt>
                <c:pt idx="5">
                  <c:v>-2.1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1700">
                  <a:solidFill>
                    <a:srgbClr val="2626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C9D3E8"/>
            </a:solidFill>
          </a:ln>
        </c:spPr>
        <c:txPr>
          <a:bodyPr/>
          <a:lstStyle/>
          <a:p>
            <a:pPr>
              <a:defRPr sz="1700">
                <a:solidFill>
                  <a:srgbClr val="6B7280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-2.5"/>
        </c:scaling>
        <c:delete val="0"/>
        <c:axPos val="b"/>
        <c:majorGridlines>
          <c:spPr>
            <a:ln w="9525">
              <a:solidFill>
                <a:srgbClr val="C9D3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700" b="0">
                    <a:solidFill>
                      <a:srgbClr val="6B7280"/>
                    </a:solidFill>
                  </a:rPr>
                  <a:t>相对 base 的 BLEU 变化</a:t>
                </a:r>
              </a:p>
            </c:rich>
          </c:tx>
          <c:layout/>
          <c:overlay val="0"/>
        </c:title>
        <c:numFmt formatCode="+0.0;-0.0;0.0" sourceLinked="0"/>
        <c:majorTickMark val="out"/>
        <c:minorTickMark val="none"/>
        <c:tickLblPos val="nextTo"/>
        <c:spPr>
          <a:ln>
            <a:solidFill>
              <a:srgbClr val="C9D3E8"/>
            </a:solidFill>
          </a:ln>
        </c:spPr>
        <c:txPr>
          <a:bodyPr/>
          <a:lstStyle/>
          <a:p>
            <a:pPr>
              <a:defRPr sz="1700">
                <a:solidFill>
                  <a:srgbClr val="6B7280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6B7280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分钟。先讲清“串行”到底卡在哪：不是算得慢，而是没法在一个样本内部并行。ConvS2S 的路径长度随距离线性增长，ByteNet 是对数增长（原文 §2）。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重点看后两列：自注意力的串行操作和路径长度都是常数。代价是每层 O(n²·d)，当 n &lt; d 时（句子级翻译常见，d=512）反而比循环层便宜；序列很长时就要考虑受限自注意力（原文 §4）。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分钟，这页是全场最重要的图。按“左边编码器 → 中间连线 → 右边解码器”的顺序讲。LayerNorm(x + Sublayer(x)) 是原文的 Post-LN 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脚注 4：若 q、k 各分量独立、均值 0、方差 1，则 q·k 均值 0、方差 d_k。这是“为什么除以 √d_k”的标准答案。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= 8，d_k = d_v = d_model / h = 64。强调“拆成多个低维头”不增加计算量。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25.7 vs 25.8 是 newstest2013 开发集 BLEU（Table 3 E 行 vs base）。标签平滑会让困惑度变差，但提升 BLEU（原文 §5.4）。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注意口径：EN-FR 上 big 的 41.0 是单模型最好，但仍低于 ConvS2S 集成的 41.29，不要说“全面超越”。base 取最后 5 个检查点平均，big 取 20 个；beam size 4，长度惩罚 α = 0.6（§6.1）。base 在 8 张 P100 上训练约 12 小时，big 约 3.5 天（§5.2）。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对应困惑度：5.29 / 5.00 / 4.92 / 4.91 / 5.01。纵轴从 24.5 起，柱子高度差被放大，讲的时候要说明真实差距在 1 BLEU 以内；且都是单次运行，没有方差。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原始值：base 25.8；层数 2 → 23.7；去掉 dropout → 24.6；d_k 16 → 25.1；去掉标签平滑 → 25.3；可学习位置嵌入 → 25.7；big → 26.4。讲的时候点两处：一是 d_k 太小伤性能，说明相关度计算需要足够维度；二是去掉标签平滑后困惑度反而更低（4.67 vs 4.92）但 BLEU 下降，标签平滑是用困惑度换准确率。这页比主表更有用，它告诉我们哪些超参数敏感。base 参数量约 65M。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GitHub 上一份个人从零实现的 PyTorch 版本。配置：6 层、8 头、d_model 512、FFN 2048、dropout 0.1、batch 128，与论文 base 结构一致。参数量 55,207,087，少于论文 65M，主要因为 Multi30K 词表更小。README 未说明分词方式、翻译方向细节和 BLEU 计算工具。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结论：这份复现只能证明实现能在小数据上正常训练，不能用来说明“复现到了论文水平”或“比论文低”。数据量相差约 150 倍。补充差异：论文 base 在 8 张 P100 上训练 10 万步约 12 小时；复现的学习率调度用 ReduceLROnPlateau，不是论文的 warmup 公式。Multi30K 规模（约 2.9 万训练句对）引自 Elliott et al., 2016。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受限自注意力在原文里只作为未来工作提出（§4、§7）。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这一页要结合组里自己的课题讲一句：我们的输入长度大概多少、会不会碰到 O(n²) 的显存上限。（需汇报人根据实际课题补充）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模拟导师问答（精简备份，完整版以对话交付为准）：</a:t>
            </a:r>
          </a:p>
          <a:p>
            <a:r>
              <a:t>Q：为什么要除以 √d_k？不缩放会怎样？</a:t>
            </a:r>
          </a:p>
          <a:p>
            <a:r>
              <a:t>A：q·k 的方差随 d_k 线性增长，点积过大时 softmax 进入饱和区、梯度极小；原文脚注 4 给出方差推导。</a:t>
            </a:r>
          </a:p>
          <a:p>
            <a:r>
              <a:t>Q：自注意力每层是 O(n²·d)，为什么还说比 RNN 快？</a:t>
            </a:r>
          </a:p>
          <a:p>
            <a:r>
              <a:t>A：关键是串行操作数 O(1) 对 O(n)，可以整层并行；且 n &lt; d 时（句子级翻译常见）每层计算量也更小。</a:t>
            </a:r>
          </a:p>
          <a:p>
            <a:r>
              <a:t>Q：多头注意力为什么不是头越多越好？</a:t>
            </a:r>
          </a:p>
          <a:p>
            <a:r>
              <a:t>A：总计算量固定，头越多每头维度越小；Table 3 (A)(B) 显示 d_k 过小会损害效果，32 头降到 25.4。</a:t>
            </a:r>
          </a:p>
          <a:p>
            <a:r>
              <a:t>Q：没有循环，模型怎么知道词序？为什么选正余弦位置编码？</a:t>
            </a:r>
          </a:p>
          <a:p>
            <a:r>
              <a:t>A：把正余弦编码加到输入嵌入上；作者假设它便于表达相对位置、能外推到更长序列，但可学习嵌入结果几乎相同（25.7 vs 25.8）。</a:t>
            </a:r>
          </a:p>
          <a:p>
            <a:r>
              <a:t>Q：训练成本的 FLOPs 是怎么算的？不同论文之间可比吗？</a:t>
            </a:r>
          </a:p>
          <a:p>
            <a:r>
              <a:t>A：训练时长 × GPU 数 × 单卡持续单精度算力（脚注 5），是粗略估计，没有计入实际硬件利用率差异。</a:t>
            </a:r>
          </a:p>
          <a:p>
            <a:r>
              <a:t>Q：复现得到 26.4 BLEU，能说明复现成功吗？</a:t>
            </a:r>
          </a:p>
          <a:p>
            <a:r>
              <a:t>A：不能直接和论文比：数据集、分词、BLEU 计算工具都不同；只能说明实现能在小数据集上正常收敛。</a:t>
            </a:r>
          </a:p>
          <a:p>
            <a:r>
              <a:t>（另有 2 题超出备注篇幅，见对话中的完整版）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sv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4.sv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7753588" y="725642"/>
            <a:ext cx="2943385" cy="2943385"/>
            <a:chOff x="0" y="0"/>
            <a:chExt cx="812800" cy="812800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395867"/>
            <a:ext cx="18288000" cy="659550"/>
            <a:chOff x="0" y="0"/>
            <a:chExt cx="24813158" cy="894877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shell_Group 19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20" name="shell_Freeform 20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shell_TextBox 21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2" name="shell_Group 22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3" name="shell_Freeform 23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24" name="shell_TextBox 24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948F7AFD-8018-1195-22AC-3223059814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59" y="1036367"/>
            <a:ext cx="18145126" cy="7758684"/>
          </a:xfrm>
          <a:prstGeom prst="rect">
            <a:avLst/>
          </a:prstGeom>
        </p:spPr>
      </p:pic>
      <p:sp>
        <p:nvSpPr>
          <p:cNvPr id="25" name="shell_Freeform 25"/>
          <p:cNvSpPr/>
          <p:nvPr/>
        </p:nvSpPr>
        <p:spPr>
          <a:xfrm>
            <a:off x="8111424" y="1011211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74" t="-5498" r="-8582" b="-8905"/>
            </a:stretch>
          </a:blipFill>
        </p:spPr>
      </p:sp>
      <p:sp>
        <p:nvSpPr>
          <p:cNvPr id="36" name="TextBox 35"/>
          <p:cNvSpPr txBox="1"/>
          <p:nvPr/>
        </p:nvSpPr>
        <p:spPr>
          <a:xfrm>
            <a:off x="2404872" y="4480560"/>
            <a:ext cx="13816584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800" b="0">
                <a:solidFill>
                  <a:srgbClr val="33477A"/>
                </a:solidFill>
                <a:latin typeface="Segoe UI Light"/>
                <a:ea typeface="Source Han Sans CN Light"/>
                <a:cs typeface="Segoe UI Light"/>
              </a:rPr>
              <a:t>Attention Is All You Need 论文精读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4872" y="3611880"/>
            <a:ext cx="1381658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Vaswani et al., NIPS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81228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汇报人：张同学 ｜ 信息科学技术学院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2026-09-23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37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38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39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0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CONTENTS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目录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819656" y="3794760"/>
            <a:ext cx="1303053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59872" y="3794760"/>
            <a:ext cx="5541219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2800" b="1">
                <a:solidFill>
                  <a:srgbClr val="33477A"/>
                </a:solidFill>
                <a:latin typeface="Arial"/>
                <a:ea typeface="微软雅黑"/>
                <a:cs typeface="Arial"/>
              </a:rPr>
              <a:t>问题与动机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59872" y="5081930"/>
            <a:ext cx="5541219" cy="0"/>
          </a:xfrm>
          <a:prstGeom prst="line">
            <a:avLst/>
          </a:prstGeom>
          <a:ln w="952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19656" y="5364480"/>
            <a:ext cx="1303053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9872" y="5364480"/>
            <a:ext cx="5541219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2800" b="1">
                <a:solidFill>
                  <a:srgbClr val="33477A"/>
                </a:solidFill>
                <a:latin typeface="Arial"/>
                <a:ea typeface="微软雅黑"/>
                <a:cs typeface="Arial"/>
              </a:rPr>
              <a:t>方法拆解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59872" y="6651650"/>
            <a:ext cx="5541219" cy="0"/>
          </a:xfrm>
          <a:prstGeom prst="line">
            <a:avLst/>
          </a:prstGeom>
          <a:ln w="952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19656" y="6934200"/>
            <a:ext cx="1303053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9872" y="6934200"/>
            <a:ext cx="5541219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2800" b="1">
                <a:solidFill>
                  <a:srgbClr val="33477A"/>
                </a:solidFill>
                <a:latin typeface="Arial"/>
                <a:ea typeface="微软雅黑"/>
                <a:cs typeface="Arial"/>
              </a:rPr>
              <a:t>论文证据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259872" y="8221370"/>
            <a:ext cx="5541219" cy="0"/>
          </a:xfrm>
          <a:prstGeom prst="line">
            <a:avLst/>
          </a:prstGeom>
          <a:ln w="952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486909" y="3794760"/>
            <a:ext cx="1303053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27125" y="3794760"/>
            <a:ext cx="5541219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2800" b="1">
                <a:solidFill>
                  <a:srgbClr val="33477A"/>
                </a:solidFill>
                <a:latin typeface="Arial"/>
                <a:ea typeface="微软雅黑"/>
                <a:cs typeface="Arial"/>
              </a:rPr>
              <a:t>复现与评价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927125" y="5081930"/>
            <a:ext cx="5541219" cy="0"/>
          </a:xfrm>
          <a:prstGeom prst="line">
            <a:avLst/>
          </a:prstGeom>
          <a:ln w="952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486909" y="5364480"/>
            <a:ext cx="1303053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27125" y="5364480"/>
            <a:ext cx="5541219" cy="1255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2800" b="1">
                <a:solidFill>
                  <a:srgbClr val="33477A"/>
                </a:solidFill>
                <a:latin typeface="Arial"/>
                <a:ea typeface="微软雅黑"/>
                <a:cs typeface="Arial"/>
              </a:rPr>
              <a:t>对我们的启发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27125" y="6651650"/>
            <a:ext cx="5541219" cy="0"/>
          </a:xfrm>
          <a:prstGeom prst="line">
            <a:avLst/>
          </a:prstGeom>
          <a:ln w="952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nav_1"/>
          <p:cNvSpPr txBox="1"/>
          <p:nvPr/>
        </p:nvSpPr>
        <p:spPr>
          <a:xfrm>
            <a:off x="1819656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37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38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39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0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0" y="3566160"/>
            <a:ext cx="402336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0" b="0">
                <a:solidFill>
                  <a:srgbClr val="7E93C6"/>
                </a:solidFill>
                <a:latin typeface="Segoe UI Light"/>
                <a:ea typeface="Source Han Sans CN Light"/>
                <a:cs typeface="Segoe UI Light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206240"/>
            <a:ext cx="9875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3392" y="56509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RNN 的串行计算，是长序列训练的瓶颈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19656" y="3372294"/>
            <a:ext cx="14648688" cy="1165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第 t 步必须等第 t−1 步算完：序列越长越难并行，也越难学到远距离依赖。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9656" y="4702779"/>
            <a:ext cx="14648688" cy="47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循环网络按位置逐步计算，同一个训练样本内部无法并行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显存又限制了跨样本的批处理，长序列时矛盾更突出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此前的注意力机制几乎都搭配 RNN 使用，没有摆脱串行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ConvS2S、ByteNet 可以并行，但远距离依赖的路径随距离增长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§1–2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Table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自注意力把任意两位置的路径缩短到 O(1)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819656" y="3977590"/>
          <a:ext cx="14648688" cy="397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172"/>
                <a:gridCol w="3662172"/>
                <a:gridCol w="3662172"/>
                <a:gridCol w="3662172"/>
              </a:tblGrid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层类型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每层复杂度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串行操作数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最大路径长度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自注意力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O(n²·d)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循环层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O(n·d²)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卷积层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O(k·n·d²)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O(logₖ n)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受限自注意力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O(r·n·d)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O(n/r)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Table 1（n 序列长度，d 表示维度，k 卷积核，r 邻域大小）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37" name="nav_2"/>
          <p:cNvSpPr txBox="1"/>
          <p:nvPr/>
        </p:nvSpPr>
        <p:spPr>
          <a:xfrm>
            <a:off x="4747565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38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39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0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0" y="3566160"/>
            <a:ext cx="402336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0" b="0">
                <a:solidFill>
                  <a:srgbClr val="7E93C6"/>
                </a:solidFill>
                <a:latin typeface="Segoe UI Light"/>
                <a:ea typeface="Source Han Sans CN Light"/>
                <a:cs typeface="Segoe UI Light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206240"/>
            <a:ext cx="9875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3392" y="56509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编码器与解码器全部由注意力和前馈层堆叠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fig1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853" y="2514600"/>
            <a:ext cx="4369080" cy="63276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19656" y="8924532"/>
            <a:ext cx="5859475" cy="466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图 1　Transformer 整体结构（原文 Fig. 1）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367" y="3227515"/>
            <a:ext cx="8171977" cy="10973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6 层编码器 + 6 层解码器，d_model = 512，没有任何循环或卷积。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367" y="4489418"/>
            <a:ext cx="8171977" cy="492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每层两个子层：多头自注意力 + 逐位置前馈网络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每个子层外面套残差连接，再做 LayerNorm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解码器多一个编码器-解码器注意力，用来读取源句表示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解码器的自注意力加掩码，保证只看已经生成的词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§3.1, Fig.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缩放点积注意力：除以 √d_k 防止 softmax 饱和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fig2a_scaled_d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3738" y="3021976"/>
            <a:ext cx="4394606" cy="5312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73738" y="8924532"/>
            <a:ext cx="4394606" cy="466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图 2（左）缩放点积注意力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9656" y="3227515"/>
            <a:ext cx="9636846" cy="10973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Attention(Q, K, V) = softmax(QKᵀ / √d_k) ·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4489418"/>
            <a:ext cx="9636846" cy="492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Q 与所有 K 做点积得到相关度，softmax 后对 V 加权求和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q·k 的方差随 d_k 增长，不缩放会把 softmax 推进梯度极小区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与加性注意力理论复杂度相当，但能用矩阵乘法高度优化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掩码把非法位置置为 −∞，解码器靠它屏蔽未来信息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§3.2.1, 式 (1)，脚注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多头注意力：8 个 64 维的头并行计算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fig2b_multi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3738" y="2969413"/>
            <a:ext cx="4394606" cy="54180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73738" y="8924532"/>
            <a:ext cx="4394606" cy="466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图 2（右）多头注意力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9656" y="3227515"/>
            <a:ext cx="9636846" cy="10973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计算量与单头全维度相当，却能同时关注不同子空间。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656" y="4489418"/>
            <a:ext cx="9636846" cy="492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每个头先把 Q、K、V 线性投影到 64 维，再各自做注意力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8 个头的输出拼接后，再做一次线性投影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三处使用：编码器自注意力、解码器掩码自注意力、编解码注意力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单头比最佳设置低 0.9 BLEU（Table 3 A 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§3.2.2–3.2.3, Table 3 (A)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去掉循环后，三个细节补回顺序与稳定性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rd_1"/>
          <p:cNvSpPr/>
          <p:nvPr/>
        </p:nvSpPr>
        <p:spPr>
          <a:xfrm>
            <a:off x="1819656" y="4280375"/>
            <a:ext cx="4590281" cy="3372171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C9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76281" y="4554702"/>
            <a:ext cx="3877031" cy="576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4A639F"/>
                </a:solidFill>
                <a:latin typeface="Arial"/>
                <a:ea typeface="Source Han Sans CN"/>
                <a:cs typeface="Arial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81" y="5213086"/>
            <a:ext cx="3877031" cy="85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位置编码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81" y="6145797"/>
            <a:ext cx="3877031" cy="131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· 正余弦函数，波长成几何级数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· 换成可学习嵌入：25.7 vs 25.8</a:t>
            </a:r>
          </a:p>
        </p:txBody>
      </p:sp>
      <p:sp>
        <p:nvSpPr>
          <p:cNvPr id="22" name="card_2"/>
          <p:cNvSpPr/>
          <p:nvPr/>
        </p:nvSpPr>
        <p:spPr>
          <a:xfrm>
            <a:off x="6848860" y="4280375"/>
            <a:ext cx="4590281" cy="3372171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C9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85" y="4554702"/>
            <a:ext cx="3877031" cy="576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4A639F"/>
                </a:solidFill>
                <a:latin typeface="Arial"/>
                <a:ea typeface="Source Han Sans CN"/>
                <a:cs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85" y="5213086"/>
            <a:ext cx="3877031" cy="85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逐位置前馈网络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85" y="6145797"/>
            <a:ext cx="3877031" cy="131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· 每个位置独立的两层全连接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· 中间维度 2048，ReLU 激活</a:t>
            </a:r>
          </a:p>
        </p:txBody>
      </p:sp>
      <p:sp>
        <p:nvSpPr>
          <p:cNvPr id="26" name="card_3"/>
          <p:cNvSpPr/>
          <p:nvPr/>
        </p:nvSpPr>
        <p:spPr>
          <a:xfrm>
            <a:off x="11878063" y="4280375"/>
            <a:ext cx="4590281" cy="3372171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C9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34688" y="4554702"/>
            <a:ext cx="3877031" cy="5760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4A639F"/>
                </a:solidFill>
                <a:latin typeface="Arial"/>
                <a:ea typeface="Source Han Sans CN"/>
                <a:cs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34688" y="5213086"/>
            <a:ext cx="3877031" cy="85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训练配方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4688" y="6145797"/>
            <a:ext cx="3877031" cy="131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· Adam，前 4000 步线性 warmup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· Dropout 0.1，标签平滑 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§3.3, §3.5, §5.3–5.4, Table 3 (E)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37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38" name="nav_3"/>
          <p:cNvSpPr txBox="1"/>
          <p:nvPr/>
        </p:nvSpPr>
        <p:spPr>
          <a:xfrm>
            <a:off x="7675474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39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0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0" y="3566160"/>
            <a:ext cx="402336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0" b="0">
                <a:solidFill>
                  <a:srgbClr val="7E93C6"/>
                </a:solidFill>
                <a:latin typeface="Segoe UI Light"/>
                <a:ea typeface="Source Han Sans CN Light"/>
                <a:cs typeface="Segoe UI Light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206240"/>
            <a:ext cx="9875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3392" y="56509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Table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EN-DE 上 base 模型已超过此前全部结果（含集成）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819656" y="3579816"/>
          <a:ext cx="14648688" cy="4773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172"/>
                <a:gridCol w="3662172"/>
                <a:gridCol w="3662172"/>
                <a:gridCol w="3662172"/>
              </a:tblGrid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模型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EN-DE BLEU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EN-FR BLEU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训练成本 EN-DE (FLOPs)</a:t>
                      </a:r>
                    </a:p>
                  </a:txBody>
                  <a:tcPr marL="164596" marR="164596" marT="54865" marB="54865" anchor="ctr">
                    <a:solidFill>
                      <a:srgbClr val="4A639F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GNMT + RL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24.6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39.92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ConvS2S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25.16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40.46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9.6×10¹⁸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ConvS2S 集成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26.36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41.29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7.7×10¹⁹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base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27.3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38.1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3.3×10¹⁸</a:t>
                      </a:r>
                    </a:p>
                  </a:txBody>
                  <a:tcPr marL="164596" marR="164596" marT="54865" marB="54865" anchor="ctr">
                    <a:solidFill>
                      <a:srgbClr val="FFFFFF"/>
                    </a:solidFill>
                  </a:tcPr>
                </a:tc>
              </a:tr>
              <a:tr h="795548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big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28.4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41.0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2626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64596" marR="164596" marT="54865" marB="5486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Table 2（newstest2014）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头数不是越多越好：单头掉 0.9 BLEU，32 头也下降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19656" y="2514600"/>
            <a:ext cx="14648688" cy="1165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固定总计算量，只改变头数 h 与每头维度 d_k = d_v。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1819656" y="3845085"/>
          <a:ext cx="14648688" cy="557323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Table 3 (A)；开发集，未做检查点平均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Table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消融：减层、去 dropout 掉得最多，大模型 +0.6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19656" y="2514600"/>
            <a:ext cx="14648688" cy="1165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各变体相对 base（25.8 BLEU）的变化，newstest2013 开发集。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819656" y="3845085"/>
          <a:ext cx="14648688" cy="557323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Table 3 (B)(C)(D)(E) 与 big 行；单次运行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37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38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39" name="nav_4"/>
          <p:cNvSpPr txBox="1"/>
          <p:nvPr/>
        </p:nvSpPr>
        <p:spPr>
          <a:xfrm>
            <a:off x="10603382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0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0" y="3566160"/>
            <a:ext cx="402336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0" b="0">
                <a:solidFill>
                  <a:srgbClr val="7E93C6"/>
                </a:solidFill>
                <a:latin typeface="Segoe UI Light"/>
                <a:ea typeface="Source Han Sans CN Light"/>
                <a:cs typeface="Segoe UI Light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206240"/>
            <a:ext cx="9875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3392" y="56509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GitHub 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第三方复现：Multi30K 英德上 26.4 BLEU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kpi_1"/>
          <p:cNvSpPr/>
          <p:nvPr/>
        </p:nvSpPr>
        <p:spPr>
          <a:xfrm>
            <a:off x="1819656" y="4046172"/>
            <a:ext cx="4517127" cy="3840576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2565" y="4347932"/>
            <a:ext cx="3831310" cy="1766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26.4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2565" y="6196895"/>
            <a:ext cx="3831310" cy="1536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5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BLEU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Multi30K EN-DE，README 报告值</a:t>
            </a:r>
          </a:p>
        </p:txBody>
      </p:sp>
      <p:sp>
        <p:nvSpPr>
          <p:cNvPr id="22" name="kpi_2"/>
          <p:cNvSpPr/>
          <p:nvPr/>
        </p:nvSpPr>
        <p:spPr>
          <a:xfrm>
            <a:off x="6885437" y="4046172"/>
            <a:ext cx="4517127" cy="3840576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8345" y="4347932"/>
            <a:ext cx="3831310" cy="1766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55.2M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8345" y="6196895"/>
            <a:ext cx="3831310" cy="1536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5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参数量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论文 base 约 65M</a:t>
            </a:r>
          </a:p>
        </p:txBody>
      </p:sp>
      <p:sp>
        <p:nvSpPr>
          <p:cNvPr id="25" name="kpi_3"/>
          <p:cNvSpPr/>
          <p:nvPr/>
        </p:nvSpPr>
        <p:spPr>
          <a:xfrm>
            <a:off x="11951217" y="4046172"/>
            <a:ext cx="4517127" cy="3840576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94126" y="4347932"/>
            <a:ext cx="3831310" cy="1766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0" b="0">
                <a:solidFill>
                  <a:srgbClr val="4A639F"/>
                </a:solidFill>
                <a:latin typeface="Segoe UI Light"/>
                <a:ea typeface="Source Han Sans CN Light"/>
                <a:cs typeface="Segoe UI Light"/>
              </a:rPr>
              <a:t>3.20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94126" y="6196895"/>
            <a:ext cx="3831310" cy="1536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5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最低验证损失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最低训练损失 2.85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来源：github.com/hyunwoongko/transformer（README）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26.4 与论文 27.3 不能直接比：数据和口径都不同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mp_1"/>
          <p:cNvSpPr/>
          <p:nvPr/>
        </p:nvSpPr>
        <p:spPr>
          <a:xfrm>
            <a:off x="1819656" y="4101337"/>
            <a:ext cx="7050017" cy="3730247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9656" y="4101337"/>
            <a:ext cx="7050017" cy="123447"/>
          </a:xfrm>
          <a:prstGeom prst="rect">
            <a:avLst/>
          </a:prstGeom>
          <a:solidFill>
            <a:srgbClr val="4A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3714" y="4485394"/>
            <a:ext cx="6281902" cy="685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4A639F"/>
                </a:solidFill>
                <a:latin typeface="Arial"/>
                <a:ea typeface="Source Han Sans CN"/>
                <a:cs typeface="Arial"/>
              </a:rPr>
              <a:t>论文 base（Table 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14" y="5363240"/>
            <a:ext cx="6281902" cy="229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· WMT14 英德，约 450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· BPE 共享词表，约 3.7 万词元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· newstest2014 测试，beam 4 + 检查点平均</a:t>
            </a:r>
          </a:p>
        </p:txBody>
      </p:sp>
      <p:sp>
        <p:nvSpPr>
          <p:cNvPr id="22" name="cmp_2"/>
          <p:cNvSpPr/>
          <p:nvPr/>
        </p:nvSpPr>
        <p:spPr>
          <a:xfrm>
            <a:off x="9418327" y="4101337"/>
            <a:ext cx="7050017" cy="3730247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9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7" y="4101337"/>
            <a:ext cx="7050017" cy="123447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84" y="4485394"/>
            <a:ext cx="6281902" cy="685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B4762A"/>
                </a:solidFill>
                <a:latin typeface="Arial"/>
                <a:ea typeface="Source Han Sans CN"/>
                <a:cs typeface="Arial"/>
              </a:rPr>
              <a:t>第三方复现（Multi30K）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84" y="5363240"/>
            <a:ext cx="6281902" cy="229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· Multi30K 图像描述，约 2.9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· README 未说明分词和 BLEU 计算工具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· 只报告一次结果，没有方差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来源：原文 §5–6；hyunwoongko/transformer；Elliott et al., 2016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我的评价：机制论证扎实，但证据范围有限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19656" y="3478977"/>
            <a:ext cx="6981435" cy="685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4A639F"/>
                </a:solidFill>
                <a:latin typeface="Arial"/>
                <a:ea typeface="Source Han Sans CN"/>
                <a:cs typeface="Arial"/>
              </a:rPr>
              <a:t>可信的部分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19656" y="4192227"/>
            <a:ext cx="6981435" cy="0"/>
          </a:xfrm>
          <a:prstGeom prst="line">
            <a:avLst/>
          </a:prstGeom>
          <a:ln w="22225">
            <a:solidFill>
              <a:srgbClr val="4A6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19656" y="4466554"/>
            <a:ext cx="6981435" cy="495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复杂度与路径长度分析，和消融结果相互印证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主表同时给出 BLEU 与训练成本，比较较全面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代码开源（tensor2tensor），第三方能独立复现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9" y="3478977"/>
            <a:ext cx="6981435" cy="685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4A639F"/>
                </a:solidFill>
                <a:latin typeface="Arial"/>
                <a:ea typeface="Source Han Sans CN"/>
                <a:cs typeface="Arial"/>
              </a:rPr>
              <a:t>需要保留的地方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86909" y="4192227"/>
            <a:ext cx="6981435" cy="0"/>
          </a:xfrm>
          <a:prstGeom prst="line">
            <a:avLst/>
          </a:prstGeom>
          <a:ln w="22225">
            <a:solidFill>
              <a:srgbClr val="4A6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86909" y="4466554"/>
            <a:ext cx="6981435" cy="495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只在机器翻译上验证，任务类型单一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没有多次运行的方差，0.1–0.3 的差距难判断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长序列的 O(n²) 代价只做了分析，没有实测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9656" y="9646920"/>
            <a:ext cx="14648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来源：Vaswani et al., 2017, §4, §6–7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37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38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39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40" name="nav_5"/>
          <p:cNvSpPr txBox="1"/>
          <p:nvPr/>
        </p:nvSpPr>
        <p:spPr>
          <a:xfrm>
            <a:off x="13531291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0" y="3566160"/>
            <a:ext cx="402336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0" b="0">
                <a:solidFill>
                  <a:srgbClr val="7E93C6"/>
                </a:solidFill>
                <a:latin typeface="Segoe UI Light"/>
                <a:ea typeface="Source Han Sans CN Light"/>
                <a:cs typeface="Segoe UI Light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206240"/>
            <a:ext cx="9875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3392" y="56509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ell_Group 2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shell_Group 5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6" name="shell_Freeform 6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7" name="shell_TextBox 7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shell_Group 8"/>
          <p:cNvGrpSpPr/>
          <p:nvPr/>
        </p:nvGrpSpPr>
        <p:grpSpPr>
          <a:xfrm>
            <a:off x="0" y="10041675"/>
            <a:ext cx="18288000" cy="245325"/>
            <a:chOff x="0" y="0"/>
            <a:chExt cx="4816593" cy="64612"/>
          </a:xfrm>
        </p:grpSpPr>
        <p:sp>
          <p:nvSpPr>
            <p:cNvPr id="9" name="shell_Freeform 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10" name="shell_TextBox 1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nav_1"/>
          <p:cNvSpPr txBox="1"/>
          <p:nvPr/>
        </p:nvSpPr>
        <p:spPr>
          <a:xfrm>
            <a:off x="1819656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问题与动机</a:t>
            </a:r>
          </a:p>
        </p:txBody>
      </p:sp>
      <p:sp>
        <p:nvSpPr>
          <p:cNvPr id="12" name="nav_2"/>
          <p:cNvSpPr txBox="1"/>
          <p:nvPr/>
        </p:nvSpPr>
        <p:spPr>
          <a:xfrm>
            <a:off x="4747565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方法拆解</a:t>
            </a:r>
          </a:p>
        </p:txBody>
      </p:sp>
      <p:sp>
        <p:nvSpPr>
          <p:cNvPr id="13" name="nav_3"/>
          <p:cNvSpPr txBox="1"/>
          <p:nvPr/>
        </p:nvSpPr>
        <p:spPr>
          <a:xfrm>
            <a:off x="7675474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论文证据</a:t>
            </a:r>
          </a:p>
        </p:txBody>
      </p:sp>
      <p:sp>
        <p:nvSpPr>
          <p:cNvPr id="14" name="nav_4"/>
          <p:cNvSpPr txBox="1"/>
          <p:nvPr/>
        </p:nvSpPr>
        <p:spPr>
          <a:xfrm>
            <a:off x="10603382" y="552069"/>
            <a:ext cx="2745029" cy="304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9AA3B5"/>
                </a:solidFill>
                <a:latin typeface="Arial"/>
                <a:ea typeface="Source Han Sans CN"/>
                <a:cs typeface="Arial"/>
              </a:rPr>
              <a:t>复现与评价</a:t>
            </a:r>
          </a:p>
        </p:txBody>
      </p:sp>
      <p:sp>
        <p:nvSpPr>
          <p:cNvPr id="15" name="nav_5"/>
          <p:cNvSpPr txBox="1"/>
          <p:nvPr/>
        </p:nvSpPr>
        <p:spPr>
          <a:xfrm>
            <a:off x="13531291" y="544068"/>
            <a:ext cx="274502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3477A"/>
                </a:solidFill>
                <a:latin typeface="Arial"/>
                <a:ea typeface="Source Han Sans CN"/>
                <a:cs typeface="Arial"/>
              </a:rPr>
              <a:t>对我们的启发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1133856"/>
            <a:ext cx="14648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启发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1371600"/>
            <a:ext cx="146486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62626"/>
                </a:solidFill>
                <a:latin typeface="Arial"/>
                <a:ea typeface="Source Han Sans CN"/>
                <a:cs typeface="Arial"/>
              </a:rPr>
              <a:t>读论文先看消融表，做复现先对齐评测口径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9656" y="2267712"/>
            <a:ext cx="14648688" cy="0"/>
          </a:xfrm>
          <a:prstGeom prst="line">
            <a:avLst/>
          </a:prstGeom>
          <a:ln w="15875">
            <a:solidFill>
              <a:srgbClr val="C9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19656" y="3372294"/>
            <a:ext cx="14648688" cy="1165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4A639F"/>
                </a:solidFill>
                <a:latin typeface="Arial"/>
                <a:ea typeface="微软雅黑"/>
                <a:cs typeface="Arial"/>
              </a:rPr>
              <a:t>复现结果和论文数字比较前，先确认数据、分词、解码和评测工具一致。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9656" y="4702779"/>
            <a:ext cx="14648688" cy="47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复现前列清数据集、分词、解码设置与 BLEU 工具，缺一项就无法比较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消融表告诉我们哪些超参敏感，调参优先级按它来排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输入变长时注意 O(n²) 显存，必要时考虑受限或稀疏注意力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2500" b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▪ 报告自己的结果时，至少跑 3 个随机种子并给出方差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shell_图片 34">
            <a:extLst>
              <a:ext uri="{FF2B5EF4-FFF2-40B4-BE49-F238E27FC236}">
                <a16:creationId xmlns:a16="http://schemas.microsoft.com/office/drawing/2014/main" id="{A36DF68C-A713-8E46-AFDF-3A0C6CA6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12984" r="100" b="9663"/>
          <a:stretch>
            <a:fillRect/>
          </a:stretch>
        </p:blipFill>
        <p:spPr>
          <a:xfrm>
            <a:off x="-4" y="1028700"/>
            <a:ext cx="18145126" cy="7758684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>
            <a:off x="0" y="1991409"/>
            <a:ext cx="18288000" cy="6304182"/>
            <a:chOff x="0" y="0"/>
            <a:chExt cx="4816593" cy="1660361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816592" cy="1660361"/>
            </a:xfrm>
            <a:custGeom>
              <a:avLst/>
              <a:gdLst/>
              <a:ahLst/>
              <a:cxnLst/>
              <a:rect l="l" t="t" r="r" b="b"/>
              <a:pathLst>
                <a:path w="4816592" h="1660361">
                  <a:moveTo>
                    <a:pt x="0" y="0"/>
                  </a:moveTo>
                  <a:lnTo>
                    <a:pt x="4816592" y="0"/>
                  </a:lnTo>
                  <a:lnTo>
                    <a:pt x="4816592" y="1660361"/>
                  </a:lnTo>
                  <a:lnTo>
                    <a:pt x="0" y="1660361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0"/>
              <a:ext cx="4816593" cy="1660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20" name="shell_Group 20"/>
          <p:cNvGrpSpPr/>
          <p:nvPr/>
        </p:nvGrpSpPr>
        <p:grpSpPr>
          <a:xfrm>
            <a:off x="7672307" y="717975"/>
            <a:ext cx="2943385" cy="2943385"/>
            <a:chOff x="0" y="0"/>
            <a:chExt cx="812800" cy="812800"/>
          </a:xfrm>
        </p:grpSpPr>
        <p:sp>
          <p:nvSpPr>
            <p:cNvPr id="21" name="shell_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shell_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shell_Group 23"/>
          <p:cNvGrpSpPr/>
          <p:nvPr/>
        </p:nvGrpSpPr>
        <p:grpSpPr>
          <a:xfrm>
            <a:off x="0" y="388200"/>
            <a:ext cx="18288000" cy="659550"/>
            <a:chOff x="0" y="0"/>
            <a:chExt cx="24813158" cy="894877"/>
          </a:xfrm>
        </p:grpSpPr>
        <p:sp>
          <p:nvSpPr>
            <p:cNvPr id="24" name="shell_Freeform 24"/>
            <p:cNvSpPr/>
            <p:nvPr/>
          </p:nvSpPr>
          <p:spPr>
            <a:xfrm>
              <a:off x="0" y="0"/>
              <a:ext cx="24813158" cy="894877"/>
            </a:xfrm>
            <a:custGeom>
              <a:avLst/>
              <a:gdLst/>
              <a:ahLst/>
              <a:cxnLst/>
              <a:rect l="l" t="t" r="r" b="b"/>
              <a:pathLst>
                <a:path w="24813158" h="894877">
                  <a:moveTo>
                    <a:pt x="0" y="0"/>
                  </a:moveTo>
                  <a:lnTo>
                    <a:pt x="24813158" y="0"/>
                  </a:lnTo>
                  <a:lnTo>
                    <a:pt x="24813158" y="894877"/>
                  </a:lnTo>
                  <a:lnTo>
                    <a:pt x="0" y="894877"/>
                  </a:lnTo>
                  <a:close/>
                </a:path>
              </a:pathLst>
            </a:custGeom>
            <a:solidFill>
              <a:srgbClr val="4A639F">
                <a:alpha val="12941"/>
              </a:srgbClr>
            </a:solidFill>
          </p:spPr>
        </p:sp>
        <p:sp>
          <p:nvSpPr>
            <p:cNvPr id="25" name="shell_TextBox 25"/>
            <p:cNvSpPr txBox="1"/>
            <p:nvPr/>
          </p:nvSpPr>
          <p:spPr>
            <a:xfrm>
              <a:off x="0" y="0"/>
              <a:ext cx="24813158" cy="894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shell_Group 28"/>
          <p:cNvGrpSpPr/>
          <p:nvPr/>
        </p:nvGrpSpPr>
        <p:grpSpPr>
          <a:xfrm>
            <a:off x="0" y="0"/>
            <a:ext cx="18288000" cy="245325"/>
            <a:chOff x="0" y="0"/>
            <a:chExt cx="4816593" cy="64612"/>
          </a:xfrm>
        </p:grpSpPr>
        <p:sp>
          <p:nvSpPr>
            <p:cNvPr id="29" name="shell_Freeform 29"/>
            <p:cNvSpPr/>
            <p:nvPr/>
          </p:nvSpPr>
          <p:spPr>
            <a:xfrm>
              <a:off x="0" y="0"/>
              <a:ext cx="4816592" cy="64612"/>
            </a:xfrm>
            <a:custGeom>
              <a:avLst/>
              <a:gdLst/>
              <a:ahLst/>
              <a:cxnLst/>
              <a:rect l="l" t="t" r="r" b="b"/>
              <a:pathLst>
                <a:path w="4816592" h="64612">
                  <a:moveTo>
                    <a:pt x="0" y="0"/>
                  </a:moveTo>
                  <a:lnTo>
                    <a:pt x="4816592" y="0"/>
                  </a:lnTo>
                  <a:lnTo>
                    <a:pt x="4816592" y="64612"/>
                  </a:lnTo>
                  <a:lnTo>
                    <a:pt x="0" y="64612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0" name="shell_TextBox 30"/>
            <p:cNvSpPr txBox="1"/>
            <p:nvPr/>
          </p:nvSpPr>
          <p:spPr>
            <a:xfrm>
              <a:off x="0" y="0"/>
              <a:ext cx="4816593" cy="6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31" name="shell_Group 31"/>
          <p:cNvGrpSpPr/>
          <p:nvPr/>
        </p:nvGrpSpPr>
        <p:grpSpPr>
          <a:xfrm>
            <a:off x="0" y="8814100"/>
            <a:ext cx="18288000" cy="1472900"/>
            <a:chOff x="0" y="0"/>
            <a:chExt cx="4816593" cy="387924"/>
          </a:xfrm>
        </p:grpSpPr>
        <p:sp>
          <p:nvSpPr>
            <p:cNvPr id="32" name="shell_Freeform 32"/>
            <p:cNvSpPr/>
            <p:nvPr/>
          </p:nvSpPr>
          <p:spPr>
            <a:xfrm>
              <a:off x="0" y="0"/>
              <a:ext cx="4816592" cy="387924"/>
            </a:xfrm>
            <a:custGeom>
              <a:avLst/>
              <a:gdLst/>
              <a:ahLst/>
              <a:cxnLst/>
              <a:rect l="l" t="t" r="r" b="b"/>
              <a:pathLst>
                <a:path w="4816592" h="387924">
                  <a:moveTo>
                    <a:pt x="0" y="0"/>
                  </a:moveTo>
                  <a:lnTo>
                    <a:pt x="4816592" y="0"/>
                  </a:lnTo>
                  <a:lnTo>
                    <a:pt x="4816592" y="387924"/>
                  </a:lnTo>
                  <a:lnTo>
                    <a:pt x="0" y="387924"/>
                  </a:lnTo>
                  <a:close/>
                </a:path>
              </a:pathLst>
            </a:custGeom>
            <a:solidFill>
              <a:srgbClr val="4A639F"/>
            </a:solidFill>
          </p:spPr>
        </p:sp>
        <p:sp>
          <p:nvSpPr>
            <p:cNvPr id="33" name="shell_TextBox 33"/>
            <p:cNvSpPr txBox="1"/>
            <p:nvPr/>
          </p:nvSpPr>
          <p:spPr>
            <a:xfrm>
              <a:off x="0" y="0"/>
              <a:ext cx="4816593" cy="3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34" name="shell_Freeform 34"/>
          <p:cNvSpPr/>
          <p:nvPr/>
        </p:nvSpPr>
        <p:spPr>
          <a:xfrm>
            <a:off x="8030144" y="1028700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4" t="-5498" r="-8582" b="-8905"/>
            </a:stretch>
          </a:blipFill>
        </p:spPr>
      </p:sp>
      <p:sp>
        <p:nvSpPr>
          <p:cNvPr id="36" name="TextBox 35"/>
          <p:cNvSpPr txBox="1"/>
          <p:nvPr/>
        </p:nvSpPr>
        <p:spPr>
          <a:xfrm>
            <a:off x="2377440" y="4023360"/>
            <a:ext cx="1353312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7200" b="0">
                <a:solidFill>
                  <a:srgbClr val="33477A"/>
                </a:solidFill>
                <a:latin typeface="Segoe UI Light"/>
                <a:ea typeface="Source Han Sans CN Light"/>
                <a:cs typeface="Segoe UI Light"/>
              </a:rPr>
              <a:t>谢谢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66928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6B7280"/>
                </a:solidFill>
                <a:latin typeface="Arial"/>
                <a:ea typeface="微软雅黑"/>
                <a:cs typeface="Arial"/>
              </a:rP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344</Words>
  <Application>Microsoft Office PowerPoint</Application>
  <PresentationFormat>自定义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思源黑体 2 Bold</vt:lpstr>
      <vt:lpstr>Akzidenz-Grotesk</vt:lpstr>
      <vt:lpstr>Calibri</vt:lpstr>
      <vt:lpstr>思源黑体 1 Bold</vt:lpstr>
      <vt:lpstr>思源黑体 1 Heavy</vt:lpstr>
      <vt:lpstr>思源黑体 1</vt:lpstr>
      <vt:lpstr>Akzidenz-Grotesk Medium</vt:lpstr>
      <vt:lpstr>Akzidenz-Grotesk Heavy</vt:lpstr>
      <vt:lpstr>Akzidenz-Grotesk Bold</vt:lpstr>
      <vt:lpstr>思源黑体 1 Medium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论文精读</dc:title>
  <cp:lastModifiedBy>张同学</cp:lastModifiedBy>
  <cp:revision>1</cp:revision>
  <dcterms:created xsi:type="dcterms:W3CDTF">2026-09-23T12:01:35Z</dcterms:created>
  <dcterms:modified xsi:type="dcterms:W3CDTF">2026-09-23T12:01:35Z</dcterms:modified>
  <dc:identifier>DAHEYYKhIwo</dc:identifier>
  <dc:subject>Vaswani et al., NIPS 2017</dc:subject>
  <dc:creator>张同学</dc:creator>
  <cp:keywords>暨南大学, 学术汇报, 组会, 答辩</cp:keywords>
  <dc:description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{"Label":"1","ContentProducer":"001191110105MA01AN806X00000","ProduceID":"DAHEYYKhIwo","ReservedCode1":"","ContentPropagator":"001191110105MA01AN806X00000","PropagateID":"DAHEYYKhIwo","ReservedCode2":""}</vt:lpwstr>
  </property>
</Properties>
</file>