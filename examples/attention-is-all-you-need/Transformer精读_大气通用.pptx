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10"/>
    <p:sldId id="301" r:id="rId9"/>
    <p:sldId id="302" r:id="rId8"/>
    <p:sldId id="303" r:id="rId7"/>
    <p:sldId id="304" r:id="rId6"/>
    <p:sldId id="305" r:id="rId4"/>
    <p:sldId id="306" r:id="rId3"/>
    <p:sldId id="307" r:id="rId29"/>
    <p:sldId id="308" r:id="rId30"/>
    <p:sldId id="309" r:id="rId3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780"/>
    <a:srgbClr val="3D7982"/>
    <a:srgbClr val="6D9AA1"/>
    <a:srgbClr val="145D68"/>
    <a:srgbClr val="11687C"/>
    <a:srgbClr val="E8E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723" autoAdjust="0"/>
  </p:normalViewPr>
  <p:slideViewPr>
    <p:cSldViewPr snapToGrid="0">
      <p:cViewPr varScale="1">
        <p:scale>
          <a:sx n="78" d="100"/>
          <a:sy n="78" d="100"/>
        </p:scale>
        <p:origin x="81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1.xml"/><Relationship Id="rId4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tags" Target="tags/tag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145D68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 = 1</c:v>
                </c:pt>
                <c:pt idx="1">
                  <c:v>h = 4</c:v>
                </c:pt>
                <c:pt idx="2">
                  <c:v>h = 8（base）</c:v>
                </c:pt>
                <c:pt idx="3">
                  <c:v>h = 16</c:v>
                </c:pt>
                <c:pt idx="4">
                  <c:v>h = 32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</c:v>
                </c:pt>
                <c:pt idx="1">
                  <c:v>25.5</c:v>
                </c:pt>
                <c:pt idx="2">
                  <c:v>25.8</c:v>
                </c:pt>
                <c:pt idx="3">
                  <c:v>25.8</c:v>
                </c:pt>
                <c:pt idx="4">
                  <c:v>25.4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50">
                  <a:solidFill>
                    <a:srgbClr val="1E2A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0" b="0">
                    <a:solidFill>
                      <a:srgbClr val="5F7275"/>
                    </a:solidFill>
                  </a:rPr>
                  <a:t>注意力头数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1BEC2"/>
            </a:solidFill>
          </a:ln>
        </c:spPr>
        <c:txPr>
          <a:bodyPr/>
          <a:lstStyle/>
          <a:p>
            <a:pPr>
              <a:defRPr sz="1150">
                <a:solidFill>
                  <a:srgbClr val="5F7275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6.0"/>
          <c:min val="24.5"/>
        </c:scaling>
        <c:delete val="0"/>
        <c:axPos val="l"/>
        <c:majorGridlines>
          <c:spPr>
            <a:ln w="9525">
              <a:solidFill>
                <a:srgbClr val="A1BEC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0" b="0">
                    <a:solidFill>
                      <a:srgbClr val="5F7275"/>
                    </a:solidFill>
                  </a:rPr>
                  <a:t>BLEU（newstest2013 开发集）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A1BEC2"/>
            </a:solidFill>
          </a:ln>
        </c:spPr>
        <c:txPr>
          <a:bodyPr/>
          <a:lstStyle/>
          <a:p>
            <a:pPr>
              <a:defRPr sz="1150">
                <a:solidFill>
                  <a:srgbClr val="5F7275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50">
          <a:solidFill>
            <a:srgbClr val="5F7275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base 的 BLEU 变化</c:v>
                </c:pt>
              </c:strCache>
            </c:strRef>
          </c:tx>
          <c:spPr>
            <a:solidFill>
              <a:srgbClr val="145D68"/>
            </a:solidFill>
          </c:spPr>
          <c:invertIfNegative val="0"/>
          <c:dPt>
            <c:idx val="0"/>
            <c:invertIfNegative val="0"/>
            <c:spPr>
              <a:solidFill>
                <a:srgbClr val="2F7D5B"/>
              </a:solidFill>
            </c:spPr>
          </c:dPt>
          <c:dPt>
            <c:idx val="1"/>
            <c:invertIfNegative val="0"/>
            <c:spPr>
              <a:solidFill>
                <a:srgbClr val="A8443C"/>
              </a:solidFill>
            </c:spPr>
          </c:dPt>
          <c:dPt>
            <c:idx val="2"/>
            <c:invertIfNegative val="0"/>
            <c:spPr>
              <a:solidFill>
                <a:srgbClr val="A8443C"/>
              </a:solidFill>
            </c:spPr>
          </c:dPt>
          <c:dPt>
            <c:idx val="3"/>
            <c:invertIfNegative val="0"/>
            <c:spPr>
              <a:solidFill>
                <a:srgbClr val="A8443C"/>
              </a:solidFill>
            </c:spPr>
          </c:dPt>
          <c:dPt>
            <c:idx val="4"/>
            <c:invertIfNegative val="0"/>
            <c:spPr>
              <a:solidFill>
                <a:srgbClr val="A8443C"/>
              </a:solidFill>
            </c:spPr>
          </c:dPt>
          <c:dPt>
            <c:idx val="5"/>
            <c:invertIfNegative val="0"/>
            <c:spPr>
              <a:solidFill>
                <a:srgbClr val="A8443C"/>
              </a:solidFill>
            </c:spPr>
          </c:dPt>
          <c:cat>
            <c:strRef>
              <c:f>Sheet1!$A$2:$A$7</c:f>
              <c:strCache>
                <c:ptCount val="6"/>
                <c:pt idx="0">
                  <c:v>big 模型（213M 参数）</c:v>
                </c:pt>
                <c:pt idx="1">
                  <c:v>可学习位置嵌入</c:v>
                </c:pt>
                <c:pt idx="2">
                  <c:v>去掉标签平滑</c:v>
                </c:pt>
                <c:pt idx="3">
                  <c:v>d_k 64 → 16</c:v>
                </c:pt>
                <c:pt idx="4">
                  <c:v>去掉 dropout</c:v>
                </c:pt>
                <c:pt idx="5">
                  <c:v>层数 6 →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-0.1</c:v>
                </c:pt>
                <c:pt idx="2">
                  <c:v>-0.5</c:v>
                </c:pt>
                <c:pt idx="3">
                  <c:v>-0.7</c:v>
                </c:pt>
                <c:pt idx="4">
                  <c:v>-1.2</c:v>
                </c:pt>
                <c:pt idx="5">
                  <c:v>-2.1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1150">
                  <a:solidFill>
                    <a:srgbClr val="1E2A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A1BEC2"/>
            </a:solidFill>
          </a:ln>
        </c:spPr>
        <c:txPr>
          <a:bodyPr/>
          <a:lstStyle/>
          <a:p>
            <a:pPr>
              <a:defRPr sz="1150">
                <a:solidFill>
                  <a:srgbClr val="5F7275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-2.5"/>
        </c:scaling>
        <c:delete val="0"/>
        <c:axPos val="b"/>
        <c:majorGridlines>
          <c:spPr>
            <a:ln w="9525">
              <a:solidFill>
                <a:srgbClr val="A1BEC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0" b="0">
                    <a:solidFill>
                      <a:srgbClr val="5F7275"/>
                    </a:solidFill>
                  </a:rPr>
                  <a:t>相对 base 的 BLEU 变化</a:t>
                </a:r>
              </a:p>
            </c:rich>
          </c:tx>
          <c:layout/>
          <c:overlay val="0"/>
        </c:title>
        <c:numFmt formatCode="+0.0;-0.0;0.0" sourceLinked="0"/>
        <c:majorTickMark val="out"/>
        <c:minorTickMark val="none"/>
        <c:tickLblPos val="nextTo"/>
        <c:spPr>
          <a:ln>
            <a:solidFill>
              <a:srgbClr val="A1BEC2"/>
            </a:solidFill>
          </a:ln>
        </c:spPr>
        <c:txPr>
          <a:bodyPr/>
          <a:lstStyle/>
          <a:p>
            <a:pPr>
              <a:defRPr sz="1150">
                <a:solidFill>
                  <a:srgbClr val="5F7275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50">
          <a:solidFill>
            <a:srgbClr val="5F7275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83099-E356-4B84-9424-4E20FEAA9C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8707-0E06-4C40-B833-8957433910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分钟。先讲清“串行”到底卡在哪：不是算得慢，而是没法在一个样本内部并行。ConvS2S 的路径长度随距离线性增长，ByteNet 是对数增长（原文 §2）。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重点看后两列：自注意力的串行操作和路径长度都是常数。代价是每层 O(n²·d)，当 n &lt; d 时（句子级翻译常见，d=512）反而比循环层便宜；序列很长时就要考虑受限自注意力（原文 §4）。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分钟，这页是全场最重要的图。按“左边编码器 → 中间连线 → 右边解码器”的顺序讲。LayerNorm(x + Sublayer(x)) 是原文的 Post-LN 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脚注 4：若 q、k 各分量独立、均值 0、方差 1，则 q·k 均值 0、方差 d_k。这是“为什么除以 √d_k”的标准答案。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= 8，d_k = d_v = d_model / h = 64。强调“拆成多个低维头”不增加计算量。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25.7 vs 25.8 是 newstest2013 开发集 BLEU（Table 3 E 行 vs base）。标签平滑会让困惑度变差，但提升 BLEU（原文 §5.4）。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注意口径：EN-FR 上 big 的 41.0 是单模型最好，但仍低于 ConvS2S 集成的 41.29，不要说“全面超越”。base 取最后 5 个检查点平均，big 取 20 个；beam size 4，长度惩罚 α = 0.6（§6.1）。base 在 8 张 P100 上训练约 12 小时，big 约 3.5 天（§5.2）。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对应困惑度：5.29 / 5.00 / 4.92 / 4.91 / 5.01。纵轴从 24.5 起，柱子高度差被放大，讲的时候要说明真实差距在 1 BLEU 以内；且都是单次运行，没有方差。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原始值：base 25.8；层数 2 → 23.7；去掉 dropout → 24.6；d_k 16 → 25.1；去掉标签平滑 → 25.3；可学习位置嵌入 → 25.7；big → 26.4。讲的时候点两处：一是 d_k 太小伤性能，说明相关度计算需要足够维度；二是去掉标签平滑后困惑度反而更低（4.67 vs 4.92）但 BLEU 下降，标签平滑是用困惑度换准确率。这页比主表更有用，它告诉我们哪些超参数敏感。base 参数量约 65M。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GitHub 上一份个人从零实现的 PyTorch 版本。配置：6 层、8 头、d_model 512、FFN 2048、dropout 0.1、batch 128，与论文 base 结构一致。参数量 55,207,087，少于论文 65M，主要因为 Multi30K 词表更小。README 未说明分词方式、翻译方向细节和 BLEU 计算工具。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结论：这份复现只能证明实现能在小数据上正常训练，不能用来说明“复现到了论文水平”或“比论文低”。数据量相差约 150 倍。补充差异：论文 base 在 8 张 P100 上训练 10 万步约 12 小时；复现的学习率调度用 ReduceLROnPlateau，不是论文的 warmup 公式。Multi30K 规模（约 2.9 万训练句对）引自 Elliott et al., 2016。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受限自注意力在原文里只作为未来工作提出（§4、§7）。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这一页要结合组里自己的课题讲一句：我们的输入长度大概多少、会不会碰到 O(n²) 的显存上限。（需汇报人根据实际课题补充）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模拟导师问答（精简备份，完整版以对话交付为准）：</a:t>
            </a:r>
          </a:p>
          <a:p>
            <a:r>
              <a:t>Q：为什么要除以 √d_k？不缩放会怎样？</a:t>
            </a:r>
          </a:p>
          <a:p>
            <a:r>
              <a:t>A：q·k 的方差随 d_k 线性增长，点积过大时 softmax 进入饱和区、梯度极小；原文脚注 4 给出方差推导。</a:t>
            </a:r>
          </a:p>
          <a:p>
            <a:r>
              <a:t>Q：自注意力每层是 O(n²·d)，为什么还说比 RNN 快？</a:t>
            </a:r>
          </a:p>
          <a:p>
            <a:r>
              <a:t>A：关键是串行操作数 O(1) 对 O(n)，可以整层并行；且 n &lt; d 时（句子级翻译常见）每层计算量也更小。</a:t>
            </a:r>
          </a:p>
          <a:p>
            <a:r>
              <a:t>Q：多头注意力为什么不是头越多越好？</a:t>
            </a:r>
          </a:p>
          <a:p>
            <a:r>
              <a:t>A：总计算量固定，头越多每头维度越小；Table 3 (A)(B) 显示 d_k 过小会损害效果，32 头降到 25.4。</a:t>
            </a:r>
          </a:p>
          <a:p>
            <a:r>
              <a:t>Q：没有循环，模型怎么知道词序？为什么选正余弦位置编码？</a:t>
            </a:r>
          </a:p>
          <a:p>
            <a:r>
              <a:t>A：把正余弦编码加到输入嵌入上；作者假设它便于表达相对位置、能外推到更长序列，但可学习嵌入结果几乎相同（25.7 vs 25.8）。</a:t>
            </a:r>
          </a:p>
          <a:p>
            <a:r>
              <a:t>Q：训练成本的 FLOPs 是怎么算的？不同论文之间可比吗？</a:t>
            </a:r>
          </a:p>
          <a:p>
            <a:r>
              <a:t>A：训练时长 × GPU 数 × 单卡持续单精度算力（脚注 5），是粗略估计，没有计入实际硬件利用率差异。</a:t>
            </a:r>
          </a:p>
          <a:p>
            <a:r>
              <a:t>Q：复现得到 26.4 BLEU，能说明复现成功吗？</a:t>
            </a:r>
          </a:p>
          <a:p>
            <a:r>
              <a:t>A：不能直接和论文比：数据集、分词、BLEU 计算工具都不同；只能说明实现能在小数据集上正常收敛。</a:t>
            </a:r>
          </a:p>
          <a:p>
            <a:r>
              <a:t>（另有 2 题超出备注篇幅，见对话中的完整版）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705B4-A7C2-4853-AD7C-47F0D8CFC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7745-6E39-40CA-A2BD-5CA9D07553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hell_大白条"/>
          <p:cNvSpPr/>
          <p:nvPr/>
        </p:nvSpPr>
        <p:spPr>
          <a:xfrm>
            <a:off x="339147" y="1917435"/>
            <a:ext cx="11513706" cy="3023130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shell_配图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03" b="50494"/>
          <a:stretch>
            <a:fillRect/>
          </a:stretch>
        </p:blipFill>
        <p:spPr>
          <a:xfrm>
            <a:off x="7296789" y="1656966"/>
            <a:ext cx="4556064" cy="3283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777240" y="2121408"/>
            <a:ext cx="6263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Segoe UI Light"/>
                <a:ea typeface="微软雅黑 Light"/>
                <a:cs typeface="Segoe UI Light"/>
              </a:rPr>
              <a:t>Attention Is All You Need 论文精读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6263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Vaswani et al., NIPS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230368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4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汇报人：张同学 ｜ 信息科学技术学院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4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2026-09-23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目录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1207008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207008"/>
            <a:ext cx="34975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9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问题与动机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91840" y="2166762"/>
            <a:ext cx="3497580" cy="0"/>
          </a:xfrm>
          <a:prstGeom prst="line">
            <a:avLst/>
          </a:prstGeom>
          <a:ln w="952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31720" y="237744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377440"/>
            <a:ext cx="34975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9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方法拆解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91840" y="3337194"/>
            <a:ext cx="3497580" cy="0"/>
          </a:xfrm>
          <a:prstGeom prst="line">
            <a:avLst/>
          </a:prstGeom>
          <a:ln w="952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31720" y="3547872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547872"/>
            <a:ext cx="34975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9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论文证据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91840" y="4507626"/>
            <a:ext cx="3497580" cy="0"/>
          </a:xfrm>
          <a:prstGeom prst="line">
            <a:avLst/>
          </a:prstGeom>
          <a:ln w="952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46620" y="1207008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6740" y="1207008"/>
            <a:ext cx="34975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9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复现与评价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6740" y="2166762"/>
            <a:ext cx="3497580" cy="0"/>
          </a:xfrm>
          <a:prstGeom prst="line">
            <a:avLst/>
          </a:prstGeom>
          <a:ln w="952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46620" y="237744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6740" y="2377440"/>
            <a:ext cx="34975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9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06740" y="3337194"/>
            <a:ext cx="3497580" cy="0"/>
          </a:xfrm>
          <a:prstGeom prst="line">
            <a:avLst/>
          </a:prstGeom>
          <a:ln w="952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373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>
                <a:solidFill>
                  <a:srgbClr val="6D9AA1"/>
                </a:solidFill>
                <a:latin typeface="DengXian Light"/>
                <a:ea typeface="等线 Light"/>
                <a:cs typeface="DengXian Light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RNN 的串行计算，是长序列训练的瓶颈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1793443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第 t 步必须等第 t−1 步算完：序列越长越难并行，也越难学到远距离依赖。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680411"/>
            <a:ext cx="9372600" cy="3601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循环网络按位置逐步计算，同一个训练样本内部无法并行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显存又限制了跨样本的批处理，长序列时矛盾更突出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此前的注意力机制几乎都搭配 RNN 使用，没有摆脱串行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ConvS2S、ByteNet 可以并行，但远距离依赖的路径随距离增长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§1–2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Table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自注意力把任意两位置的路径缩短到 O(1)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331720" y="2418588"/>
          <a:ext cx="9372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/>
                <a:gridCol w="2343150"/>
                <a:gridCol w="2343150"/>
                <a:gridCol w="234315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层类型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每层复杂度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串行操作数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最大路径长度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自注意力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O(n²·d)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循环层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O(n·d²)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卷积层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O(k·n·d²)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O(logₖ n)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受限自注意力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O(r·n·d)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O(n/r)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Table 1（n 序列长度，d 表示维度，k 卷积核，r 邻域大小）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373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>
                <a:solidFill>
                  <a:srgbClr val="6D9AA1"/>
                </a:solidFill>
                <a:latin typeface="DengXian Light"/>
                <a:ea typeface="等线 Light"/>
                <a:cs typeface="DengXian Ligh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编码器与解码器全部由注意力和前馈层堆叠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72" y="1207008"/>
            <a:ext cx="3238935" cy="46908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31720" y="5952744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图 1　Transformer 整体结构（原文 Fig. 1）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10233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6 层编码器 + 6 层解码器，d_model = 512，没有任何循环或卷积。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51481"/>
            <a:ext cx="5212080" cy="3730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每层两个子层：多头自注意力 + 逐位置前馈网络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每个子层外面套残差连接，再做 LayerNorm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解码器多一个编码器-解码器注意力，用来读取源句表示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解码器的自注意力加掩码，保证只看已经生成的词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§3.1, Fig.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缩放点积注意力：除以 √d_k 防止 softmax 饱和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fig2a_scaled_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1852786"/>
            <a:ext cx="2811780" cy="33993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2540" y="5952744"/>
            <a:ext cx="28117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图 2（左）缩放点积注意力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559966"/>
            <a:ext cx="61493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Attention(Q, K, V) = softmax(QKᵀ / √d_k) ·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401214"/>
            <a:ext cx="6149340" cy="3880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Q 与所有 K 做点积得到相关度，softmax 后对 V 加权求和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q·k 的方差随 d_k 增长，不缩放会把 softmax 推进梯度极小区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与加性注意力理论复杂度相当，但能用矩阵乘法高度优化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掩码把非法位置置为 −∞，解码器靠它屏蔽未来信息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§3.2.1, 式 (1)，脚注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多头注意力：8 个 64 维的头并行计算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fig2b_multi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1819155"/>
            <a:ext cx="2811780" cy="34665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2540" y="5952744"/>
            <a:ext cx="28117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图 2（右）多头注意力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710233"/>
            <a:ext cx="61493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计算量与单头全维度相当，却能同时关注不同子空间。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551481"/>
            <a:ext cx="6149340" cy="3730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每个头先把 Q、K、V 线性投影到 64 维，再各自做注意力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8 个头的输出拼接后，再做一次线性投影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三处使用：编码器自注意力、解码器掩码自注意力、编解码注意力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单头比最佳设置低 0.9 BLEU（Table 3 A 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§3.2.2–3.2.3, Table 3 (A)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去掉循环后，三个细节补回顺序与稳定性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rd_1"/>
          <p:cNvSpPr/>
          <p:nvPr/>
        </p:nvSpPr>
        <p:spPr>
          <a:xfrm>
            <a:off x="2331720" y="2497455"/>
            <a:ext cx="2929128" cy="2494026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 w="12700">
            <a:solidFill>
              <a:srgbClr val="A1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9464" y="2680335"/>
            <a:ext cx="2453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3119247"/>
            <a:ext cx="2453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位置编码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9464" y="3741039"/>
            <a:ext cx="2453640" cy="1122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正余弦函数，波长成几何级数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换成可学习嵌入：25.7 vs 25.8</a:t>
            </a:r>
          </a:p>
        </p:txBody>
      </p:sp>
      <p:sp>
        <p:nvSpPr>
          <p:cNvPr id="27" name="card_2"/>
          <p:cNvSpPr/>
          <p:nvPr/>
        </p:nvSpPr>
        <p:spPr>
          <a:xfrm>
            <a:off x="5553456" y="2497455"/>
            <a:ext cx="2929128" cy="2494026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 w="12700">
            <a:solidFill>
              <a:srgbClr val="A1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1200" y="2680335"/>
            <a:ext cx="2453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1200" y="3119247"/>
            <a:ext cx="2453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逐位置前馈网络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200" y="3741039"/>
            <a:ext cx="2453640" cy="1122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每个位置独立的两层全连接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中间维度 2048，ReLU 激活</a:t>
            </a:r>
          </a:p>
        </p:txBody>
      </p:sp>
      <p:sp>
        <p:nvSpPr>
          <p:cNvPr id="31" name="card_3"/>
          <p:cNvSpPr/>
          <p:nvPr/>
        </p:nvSpPr>
        <p:spPr>
          <a:xfrm>
            <a:off x="8775192" y="2497455"/>
            <a:ext cx="2929128" cy="2494026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 w="12700">
            <a:solidFill>
              <a:srgbClr val="A1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2936" y="2680335"/>
            <a:ext cx="2453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2936" y="3119247"/>
            <a:ext cx="2453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训练配方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2936" y="3741039"/>
            <a:ext cx="2453640" cy="1122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Adam，前 4000 步线性 warmup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· Dropout 0.1，标签平滑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§3.3, §3.5, §5.3–5.4, Table 3 (E)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373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>
                <a:solidFill>
                  <a:srgbClr val="6D9AA1"/>
                </a:solidFill>
                <a:latin typeface="DengXian Light"/>
                <a:ea typeface="等线 Light"/>
                <a:cs typeface="DengXian Ligh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Table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EN-DE 上 base 模型已超过此前全部结果（含集成）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331720" y="2153412"/>
          <a:ext cx="93726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/>
                <a:gridCol w="2343150"/>
                <a:gridCol w="2343150"/>
                <a:gridCol w="234315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模型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EN-DE BLEU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EN-FR BLEU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训练成本 EN-DE (FLOPs)</a:t>
                      </a:r>
                    </a:p>
                  </a:txBody>
                  <a:tcPr marL="109728" marR="109728" marT="36576" marB="36576" anchor="ctr">
                    <a:solidFill>
                      <a:srgbClr val="145D6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GNMT + RL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24.6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39.92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ConvS2S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25.16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40.46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9.6×10¹⁸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ConvS2S 集成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26.36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41.29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7.7×10¹⁹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base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27.3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38.1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3.3×10¹⁸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big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28.4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41.0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A2C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Table 2（newstest2014）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头数不是越多越好：单头掉 0.9 BLEU，32 头也下降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31720" y="120700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固定总计算量，只改变头数 h 与每头维度 d_k = d_v。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331720" y="2093976"/>
          <a:ext cx="9372600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Table 3 (A)；开发集，未做检查点平均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Table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消融：减层、去 dropout 掉得最多，大模型 +0.6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120700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各变体相对 base（25.8 BLEU）的变化，newstest2013 开发集。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31720" y="2093976"/>
          <a:ext cx="9372600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Table 3 (B)(C)(D)(E) 与 big 行；单次运行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373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>
                <a:solidFill>
                  <a:srgbClr val="6D9AA1"/>
                </a:solidFill>
                <a:latin typeface="DengXian Light"/>
                <a:ea typeface="等线 Light"/>
                <a:cs typeface="DengXian Ligh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GitHub 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第三方复现：Multi30K 英德上 26.4 BLEU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kpi_1"/>
          <p:cNvSpPr/>
          <p:nvPr/>
        </p:nvSpPr>
        <p:spPr>
          <a:xfrm>
            <a:off x="2331720" y="2464308"/>
            <a:ext cx="2880360" cy="2560320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665476"/>
            <a:ext cx="242316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26.4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898087"/>
            <a:ext cx="24231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BLEU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Multi30K EN-DE，README 报告值</a:t>
            </a:r>
          </a:p>
        </p:txBody>
      </p:sp>
      <p:sp>
        <p:nvSpPr>
          <p:cNvPr id="27" name="kpi_2"/>
          <p:cNvSpPr/>
          <p:nvPr/>
        </p:nvSpPr>
        <p:spPr>
          <a:xfrm>
            <a:off x="5577840" y="2464308"/>
            <a:ext cx="2880360" cy="2560320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665476"/>
            <a:ext cx="242316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55.2M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898087"/>
            <a:ext cx="24231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参数量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论文 base 约 65M</a:t>
            </a:r>
          </a:p>
        </p:txBody>
      </p:sp>
      <p:sp>
        <p:nvSpPr>
          <p:cNvPr id="30" name="kpi_3"/>
          <p:cNvSpPr/>
          <p:nvPr/>
        </p:nvSpPr>
        <p:spPr>
          <a:xfrm>
            <a:off x="8823960" y="2464308"/>
            <a:ext cx="2880360" cy="2560320"/>
          </a:xfrm>
          <a:prstGeom prst="roundRect">
            <a:avLst>
              <a:gd name="adj" fmla="val 5000"/>
            </a:avLst>
          </a:prstGeom>
          <a:solidFill>
            <a:srgbClr val="E8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665476"/>
            <a:ext cx="242316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145D68"/>
                </a:solidFill>
                <a:latin typeface="DengXian Light"/>
                <a:ea typeface="等线 Light"/>
                <a:cs typeface="DengXian Light"/>
              </a:rPr>
              <a:t>3.20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898087"/>
            <a:ext cx="24231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最低验证损失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最低训练损失 2.85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来源：github.com/hyunwoongko/transformer（README）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26.4 与论文 27.3 不能直接比：数据和口径都不同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mp_1"/>
          <p:cNvSpPr/>
          <p:nvPr/>
        </p:nvSpPr>
        <p:spPr>
          <a:xfrm>
            <a:off x="2331720" y="2261860"/>
            <a:ext cx="4503420" cy="2965216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A1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261860"/>
            <a:ext cx="4503420" cy="82296"/>
          </a:xfrm>
          <a:prstGeom prst="rect">
            <a:avLst/>
          </a:prstGeom>
          <a:solidFill>
            <a:srgbClr val="145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2" y="2517892"/>
            <a:ext cx="39913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论文 base（Table 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2" y="3103108"/>
            <a:ext cx="3991356" cy="2005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WMT14 英德，约 450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BPE 共享词表，约 3.7 万词元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newstest2014 测试，beam 4 + 检查点平均</a:t>
            </a:r>
          </a:p>
        </p:txBody>
      </p:sp>
      <p:sp>
        <p:nvSpPr>
          <p:cNvPr id="27" name="cmp_2"/>
          <p:cNvSpPr/>
          <p:nvPr/>
        </p:nvSpPr>
        <p:spPr>
          <a:xfrm>
            <a:off x="7200900" y="2261860"/>
            <a:ext cx="4503420" cy="2965216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ln w="12700">
            <a:solidFill>
              <a:srgbClr val="A1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900" y="2261860"/>
            <a:ext cx="4503420" cy="822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6932" y="2517892"/>
            <a:ext cx="39913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B4762A"/>
                </a:solidFill>
                <a:latin typeface="Arial"/>
                <a:ea typeface="微软雅黑"/>
                <a:cs typeface="Arial"/>
              </a:rPr>
              <a:t>第三方复现（Multi30K）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6932" y="3103108"/>
            <a:ext cx="3991356" cy="2005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Multi30K 图像描述，约 2.9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README 未说明分词和 BLEU 计算工具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· 只报告一次结果，没有方差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来源：原文 §5–6；hyunwoongko/transformer；Elliott et al., 2016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我的评价：机制论证扎实，但证据范围有限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31720" y="1981200"/>
            <a:ext cx="4457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可信的部分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2456688"/>
            <a:ext cx="4457700" cy="0"/>
          </a:xfrm>
          <a:prstGeom prst="line">
            <a:avLst/>
          </a:prstGeom>
          <a:ln w="22225">
            <a:solidFill>
              <a:srgbClr val="145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31720" y="2639568"/>
            <a:ext cx="4457700" cy="364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复杂度与路径长度分析，和消融结果相互印证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主表同时给出 BLEU 与训练成本，比较较全面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代码开源（tensor2tensor），第三方能独立复现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6620" y="1981200"/>
            <a:ext cx="4457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需要保留的地方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46620" y="2456688"/>
            <a:ext cx="4457700" cy="0"/>
          </a:xfrm>
          <a:prstGeom prst="line">
            <a:avLst/>
          </a:prstGeom>
          <a:ln w="22225">
            <a:solidFill>
              <a:srgbClr val="145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46620" y="2639568"/>
            <a:ext cx="4457700" cy="364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只在机器翻译上验证，任务类型单一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没有多次运行的方差，0.1–0.3 的差距难判断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长序列的 O(n²) 代价只做了分析，没有实测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6419088"/>
            <a:ext cx="9372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来源：Vaswani et al., 2017, §4, §6–7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373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>
                <a:solidFill>
                  <a:srgbClr val="6D9AA1"/>
                </a:solidFill>
                <a:latin typeface="DengXian Light"/>
                <a:ea typeface="等线 Light"/>
                <a:cs typeface="DengXian Ligh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shell_大白条"/>
          <p:cNvSpPr/>
          <p:nvPr/>
        </p:nvSpPr>
        <p:spPr>
          <a:xfrm>
            <a:off x="339147" y="0"/>
            <a:ext cx="1719839" cy="6807855"/>
          </a:xfrm>
          <a:prstGeom prst="rect">
            <a:avLst/>
          </a:prstGeom>
          <a:solidFill>
            <a:srgbClr val="145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5" name="shell_直接连接符 14"/>
          <p:cNvCxnSpPr/>
          <p:nvPr/>
        </p:nvCxnSpPr>
        <p:spPr>
          <a:xfrm>
            <a:off x="624616" y="0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av_1"/>
          <p:cNvSpPr/>
          <p:nvPr/>
        </p:nvSpPr>
        <p:spPr>
          <a:xfrm>
            <a:off x="667512" y="416052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一</a:t>
            </a:r>
          </a:p>
        </p:txBody>
      </p:sp>
      <p:sp>
        <p:nvSpPr>
          <p:cNvPr id="17" name="nav_2"/>
          <p:cNvSpPr/>
          <p:nvPr/>
        </p:nvSpPr>
        <p:spPr>
          <a:xfrm>
            <a:off x="667512" y="1586484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二</a:t>
            </a:r>
          </a:p>
        </p:txBody>
      </p:sp>
      <p:sp>
        <p:nvSpPr>
          <p:cNvPr id="18" name="nav_3"/>
          <p:cNvSpPr/>
          <p:nvPr/>
        </p:nvSpPr>
        <p:spPr>
          <a:xfrm>
            <a:off x="667512" y="2756916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三</a:t>
            </a:r>
          </a:p>
        </p:txBody>
      </p:sp>
      <p:sp>
        <p:nvSpPr>
          <p:cNvPr id="19" name="nav_4"/>
          <p:cNvSpPr/>
          <p:nvPr/>
        </p:nvSpPr>
        <p:spPr>
          <a:xfrm>
            <a:off x="667512" y="3927348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9CC0C5"/>
                </a:solidFill>
                <a:latin typeface="DengXian Light"/>
                <a:ea typeface="等线 Light"/>
                <a:cs typeface="DengXian Light"/>
              </a:rPr>
              <a:t>四</a:t>
            </a:r>
          </a:p>
        </p:txBody>
      </p:sp>
      <p:sp>
        <p:nvSpPr>
          <p:cNvPr id="20" name="nav_5"/>
          <p:cNvSpPr/>
          <p:nvPr/>
        </p:nvSpPr>
        <p:spPr>
          <a:xfrm>
            <a:off x="667512" y="5097780"/>
            <a:ext cx="1389888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0E4049"/>
                </a:solidFill>
                <a:latin typeface="DengXian Light"/>
                <a:ea typeface="等线 Light"/>
                <a:cs typeface="DengXian Light"/>
              </a:rPr>
              <a:t>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2880"/>
            <a:ext cx="9372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启发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"/>
            <a:ext cx="9372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读论文先看消融表，做复现先对齐评测口径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1060704"/>
            <a:ext cx="9372600" cy="0"/>
          </a:xfrm>
          <a:prstGeom prst="line">
            <a:avLst/>
          </a:prstGeom>
          <a:ln w="15875">
            <a:solidFill>
              <a:srgbClr val="A1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1793443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45D68"/>
                </a:solidFill>
                <a:latin typeface="Arial"/>
                <a:ea typeface="微软雅黑"/>
                <a:cs typeface="Arial"/>
              </a:rPr>
              <a:t>复现结果和论文数字比较前，先确认数据、分词、解码和评测工具一致。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680411"/>
            <a:ext cx="9372600" cy="3601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复现前列清数据集、分词、解码设置与 BLEU 工具，缺一项就无法比较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消融表告诉我们哪些超参敏感，调参优先级按它来排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输入变长时注意 O(n²) 显存，必要时考虑受限或稀疏注意力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700" b="0">
                <a:solidFill>
                  <a:srgbClr val="1E2A2C"/>
                </a:solidFill>
                <a:latin typeface="Arial"/>
                <a:ea typeface="微软雅黑"/>
                <a:cs typeface="Arial"/>
              </a:rPr>
              <a:t>▪ 报告自己的结果时，至少跑 3 个随机种子并给出方差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chemeClr val="bg1"/>
            </a:gs>
            <a:gs pos="74000">
              <a:srgbClr val="A1BEC2"/>
            </a:gs>
            <a:gs pos="100000">
              <a:srgbClr val="145D6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2" name="shell_底图"/>
          <p:cNvSpPr/>
          <p:nvPr/>
        </p:nvSpPr>
        <p:spPr>
          <a:xfrm>
            <a:off x="339147" y="295050"/>
            <a:ext cx="11513706" cy="6267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8" name="shell_图片 7"/>
          <p:cNvPicPr/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3" b="51293"/>
          <a:stretch>
            <a:fillRect/>
          </a:stretch>
        </p:blipFill>
        <p:spPr>
          <a:xfrm>
            <a:off x="339147" y="295050"/>
            <a:ext cx="11513706" cy="6267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7048" y="2560320"/>
            <a:ext cx="9125712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0E4049"/>
                </a:solidFill>
                <a:latin typeface="Segoe UI Light"/>
                <a:ea typeface="微软雅黑 Light"/>
                <a:cs typeface="Segoe UI Light"/>
              </a:rPr>
              <a:t>谢谢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069080"/>
            <a:ext cx="9125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F7275"/>
                </a:solidFill>
                <a:latin typeface="Arial"/>
                <a:ea typeface="微软雅黑"/>
                <a:cs typeface="Arial"/>
              </a:rPr>
              <a:t>欢迎提问与讨论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OPFI-MACHINEIDS" val="[&quot;794b5ff4fb56775a951fd9c4c470bd8de9d6f496db05c9174a7bc2b277b1349a&quot;]"/>
  <p:tag name="OPFI-USERIDS" val="[&quot;d0d1cc4e-7e69-e099-61b1-3a206451895f&quot;]"/>
  <p:tag name="OPFI" val="{&quot;ThemeFontContent-508&quot;:{&quot;cnName&quot;:&quot;微软雅黑&quot;,&quot;enName&quot;:&quot;Microsoft YaHei&quot;,&quot;id&quot;:&quot;ThemeFontContent-508&quot;,&quot;paymentType&quot;:0,&quot;isSystemFont&quot;:true,&quot;name&quot;:&quot;微软雅黑&quot;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WPS 演示</Application>
  <PresentationFormat>宽屏</PresentationFormat>
  <Paragraphs>309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Calibri</vt:lpstr>
      <vt:lpstr>等线</vt:lpstr>
      <vt:lpstr>微软黑体</vt:lpstr>
      <vt:lpstr>黑体</vt:lpstr>
      <vt:lpstr>Arial Unicode MS</vt:lpstr>
      <vt:lpstr>等线 Light</vt:lpstr>
      <vt:lpstr>微软黑体</vt:lpstr>
      <vt:lpstr>方正大黑体_GBK</vt:lpstr>
      <vt:lpstr>Office 主题​​</vt:lpstr>
      <vt:lpstr>暨南大学 汇报PPT模板</vt:lpstr>
      <vt:lpstr>目录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论文精读</dc:title>
  <dc:creator>张同学</dc:creator>
  <cp:lastModifiedBy>张同学</cp:lastModifiedBy>
  <cp:revision>1</cp:revision>
  <dcterms:created xsi:type="dcterms:W3CDTF">2026-09-23T12:00:55Z</dcterms:created>
  <dcterms:modified xsi:type="dcterms:W3CDTF">2026-09-23T12:00:55Z</dcterms:modified>
  <dc:subject>Vaswani et al., NIPS 2017</dc:subject>
  <cp:keywords>暨南大学, 学术汇报, 组会, 答辩</cp:keywords>
  <dc:description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DD9224A78C484E3AB5124F86048AACC9_13</vt:lpwstr>
  </property>
  <property fmtid="{D5CDD505-2E9C-101B-9397-08002B2CF9AE}" pid="3" name="KSOProductBuildVer">
    <vt:lpwstr>2052-12.1.0.25225</vt:lpwstr>
  </property>
</Properties>
</file>