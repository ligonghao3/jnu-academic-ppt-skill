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807" r:id="rId8"/>
    <p:sldId id="808" r:id="rId7"/>
    <p:sldId id="809" r:id="rId6"/>
    <p:sldId id="810" r:id="rId5"/>
    <p:sldId id="811" r:id="rId4"/>
    <p:sldId id="812" r:id="rId3"/>
    <p:sldId id="813" r:id="rId17"/>
    <p:sldId id="814" r:id="rId18"/>
    <p:sldId id="815" r:id="rId19"/>
    <p:sldId id="816" r:id="rId20"/>
    <p:sldId id="817" r:id="rId21"/>
    <p:sldId id="818" r:id="rId22"/>
    <p:sldId id="819" r:id="rId23"/>
    <p:sldId id="820" r:id="rId24"/>
    <p:sldId id="821" r:id="rId25"/>
    <p:sldId id="822" r:id="rId26"/>
    <p:sldId id="823" r:id="rId27"/>
    <p:sldId id="824" r:id="rId28"/>
    <p:sldId id="825" r:id="rId29"/>
    <p:sldId id="826" r:id="rId30"/>
    <p:sldId id="827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A7B"/>
    <a:srgbClr val="AAC6CA"/>
    <a:srgbClr val="0A4652"/>
    <a:srgbClr val="138399"/>
    <a:srgbClr val="35554E"/>
    <a:srgbClr val="0D7D7A"/>
    <a:srgbClr val="117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7" autoAdjust="0"/>
    <p:restoredTop sz="94660"/>
  </p:normalViewPr>
  <p:slideViewPr>
    <p:cSldViewPr snapToGrid="0">
      <p:cViewPr varScale="1">
        <p:scale>
          <a:sx n="95" d="100"/>
          <a:sy n="95" d="100"/>
        </p:scale>
        <p:origin x="7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</c:v>
                </c:pt>
              </c:strCache>
            </c:strRef>
          </c:tx>
          <c:spPr>
            <a:solidFill>
              <a:srgbClr val="0F6A7B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h = 1</c:v>
                </c:pt>
                <c:pt idx="1">
                  <c:v>h = 4</c:v>
                </c:pt>
                <c:pt idx="2">
                  <c:v>h = 8（base）</c:v>
                </c:pt>
                <c:pt idx="3">
                  <c:v>h = 16</c:v>
                </c:pt>
                <c:pt idx="4">
                  <c:v>h = 32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24.9</c:v>
                </c:pt>
                <c:pt idx="1">
                  <c:v>25.5</c:v>
                </c:pt>
                <c:pt idx="2">
                  <c:v>25.8</c:v>
                </c:pt>
                <c:pt idx="3">
                  <c:v>25.8</c:v>
                </c:pt>
                <c:pt idx="4">
                  <c:v>25.4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32323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E7A7C"/>
                    </a:solidFill>
                  </a:rPr>
                  <a:t>注意力头数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CFE0E3"/>
            </a:solidFill>
          </a:ln>
        </c:spPr>
        <c:txPr>
          <a:bodyPr/>
          <a:lstStyle/>
          <a:p>
            <a:pPr>
              <a:defRPr sz="1100">
                <a:solidFill>
                  <a:srgbClr val="6E7A7C"/>
                </a:solidFill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26.0"/>
          <c:min val="24.5"/>
        </c:scaling>
        <c:delete val="0"/>
        <c:axPos val="l"/>
        <c:majorGridlines>
          <c:spPr>
            <a:ln w="9525">
              <a:solidFill>
                <a:srgbClr val="CFE0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6E7A7C"/>
                    </a:solidFill>
                  </a:rPr>
                  <a:t>BLEU（newstest2013 开发集）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CFE0E3"/>
            </a:solidFill>
          </a:ln>
        </c:spPr>
        <c:txPr>
          <a:bodyPr/>
          <a:lstStyle/>
          <a:p>
            <a:pPr>
              <a:defRPr sz="1100">
                <a:solidFill>
                  <a:srgbClr val="6E7A7C"/>
                </a:solidFill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E7A7C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 base 的 BLEU 变化</c:v>
                </c:pt>
              </c:strCache>
            </c:strRef>
          </c:tx>
          <c:spPr>
            <a:solidFill>
              <a:srgbClr val="0F6A7B"/>
            </a:solidFill>
          </c:spPr>
          <c:invertIfNegative val="0"/>
          <c:dPt>
            <c:idx val="0"/>
            <c:invertIfNegative val="0"/>
            <c:spPr>
              <a:solidFill>
                <a:srgbClr val="1F7A4D"/>
              </a:solidFill>
            </c:spPr>
          </c:dPt>
          <c:dPt>
            <c:idx val="1"/>
            <c:invertIfNegative val="0"/>
            <c:spPr>
              <a:solidFill>
                <a:srgbClr val="A8443C"/>
              </a:solidFill>
            </c:spPr>
          </c:dPt>
          <c:dPt>
            <c:idx val="2"/>
            <c:invertIfNegative val="0"/>
            <c:spPr>
              <a:solidFill>
                <a:srgbClr val="A8443C"/>
              </a:solidFill>
            </c:spPr>
          </c:dPt>
          <c:dPt>
            <c:idx val="3"/>
            <c:invertIfNegative val="0"/>
            <c:spPr>
              <a:solidFill>
                <a:srgbClr val="A8443C"/>
              </a:solidFill>
            </c:spPr>
          </c:dPt>
          <c:dPt>
            <c:idx val="4"/>
            <c:invertIfNegative val="0"/>
            <c:spPr>
              <a:solidFill>
                <a:srgbClr val="A8443C"/>
              </a:solidFill>
            </c:spPr>
          </c:dPt>
          <c:dPt>
            <c:idx val="5"/>
            <c:invertIfNegative val="0"/>
            <c:spPr>
              <a:solidFill>
                <a:srgbClr val="A8443C"/>
              </a:solidFill>
            </c:spPr>
          </c:dPt>
          <c:cat>
            <c:strRef>
              <c:f>Sheet1!$A$2:$A$7</c:f>
              <c:strCache>
                <c:ptCount val="6"/>
                <c:pt idx="0">
                  <c:v>big 模型（213M 参数）</c:v>
                </c:pt>
                <c:pt idx="1">
                  <c:v>可学习位置嵌入</c:v>
                </c:pt>
                <c:pt idx="2">
                  <c:v>去掉标签平滑</c:v>
                </c:pt>
                <c:pt idx="3">
                  <c:v>d_k 64 → 16</c:v>
                </c:pt>
                <c:pt idx="4">
                  <c:v>去掉 dropout</c:v>
                </c:pt>
                <c:pt idx="5">
                  <c:v>层数 6 → 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</c:v>
                </c:pt>
                <c:pt idx="1">
                  <c:v>-0.1</c:v>
                </c:pt>
                <c:pt idx="2">
                  <c:v>-0.5</c:v>
                </c:pt>
                <c:pt idx="3">
                  <c:v>-0.7</c:v>
                </c:pt>
                <c:pt idx="4">
                  <c:v>-1.2</c:v>
                </c:pt>
                <c:pt idx="5">
                  <c:v>-2.1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sz="1100">
                  <a:solidFill>
                    <a:srgbClr val="32323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CFE0E3"/>
            </a:solidFill>
          </a:ln>
        </c:spPr>
        <c:txPr>
          <a:bodyPr/>
          <a:lstStyle/>
          <a:p>
            <a:pPr>
              <a:defRPr sz="1100">
                <a:solidFill>
                  <a:srgbClr val="6E7A7C"/>
                </a:solidFill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.0"/>
          <c:min val="-2.5"/>
        </c:scaling>
        <c:delete val="0"/>
        <c:axPos val="b"/>
        <c:majorGridlines>
          <c:spPr>
            <a:ln w="9525">
              <a:solidFill>
                <a:srgbClr val="CFE0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6E7A7C"/>
                    </a:solidFill>
                  </a:rPr>
                  <a:t>相对 base 的 BLEU 变化</a:t>
                </a:r>
              </a:p>
            </c:rich>
          </c:tx>
          <c:layout/>
          <c:overlay val="0"/>
        </c:title>
        <c:numFmt formatCode="+0.0;-0.0;0.0" sourceLinked="0"/>
        <c:majorTickMark val="out"/>
        <c:minorTickMark val="none"/>
        <c:tickLblPos val="nextTo"/>
        <c:spPr>
          <a:ln>
            <a:solidFill>
              <a:srgbClr val="CFE0E3"/>
            </a:solidFill>
          </a:ln>
        </c:spPr>
        <c:txPr>
          <a:bodyPr/>
          <a:lstStyle/>
          <a:p>
            <a:pPr>
              <a:defRPr sz="1100">
                <a:solidFill>
                  <a:srgbClr val="6E7A7C"/>
                </a:solidFill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E7A7C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E59C8-059B-4531-A2FD-27B081FA8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B5E91-9A9D-4E1E-ADC8-F0984648A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93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分钟。先讲清“串行”到底卡在哪：不是算得慢，而是没法在一个样本内部并行。ConvS2S 的路径长度随距离线性增长，ByteNet 是对数增长（原文 §2）。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重点看后两列：自注意力的串行操作和路径长度都是常数。代价是每层 O(n²·d)，当 n &lt; d 时（句子级翻译常见，d=512）反而比循环层便宜；序列很长时就要考虑受限自注意力（原文 §4）。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 分钟，这页是全场最重要的图。按“左边编码器 → 中间连线 → 右边解码器”的顺序讲。LayerNorm(x + Sublayer(x)) 是原文的 Post-LN 写法。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脚注 4：若 q、k 各分量独立、均值 0、方差 1，则 q·k 均值 0、方差 d_k。这是“为什么除以 √d_k”的标准答案。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 = 8，d_k = d_v = d_model / h = 64。强调“拆成多个低维头”不增加计算量。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25.7 vs 25.8 是 newstest2013 开发集 BLEU（Table 3 E 行 vs base）。标签平滑会让困惑度变差，但提升 BLEU（原文 §5.4）。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注意口径：EN-FR 上 big 的 41.0 是单模型最好，但仍低于 ConvS2S 集成的 41.29，不要说“全面超越”。base 取最后 5 个检查点平均，big 取 20 个；beam size 4，长度惩罚 α = 0.6（§6.1）。base 在 8 张 P100 上训练约 12 小时，big 约 3.5 天（§5.2）。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对应困惑度：5.29 / 5.00 / 4.92 / 4.91 / 5.01。纵轴从 24.5 起，柱子高度差被放大，讲的时候要说明真实差距在 1 BLEU 以内；且都是单次运行，没有方差。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原始值：base 25.8；层数 2 → 23.7；去掉 dropout → 24.6；d_k 16 → 25.1；去掉标签平滑 → 25.3；可学习位置嵌入 → 25.7；big → 26.4。讲的时候点两处：一是 d_k 太小伤性能，说明相关度计算需要足够维度；二是去掉标签平滑后困惑度反而更低（4.67 vs 4.92）但 BLEU 下降，标签平滑是用困惑度换准确率。这页比主表更有用，它告诉我们哪些超参数敏感。base 参数量约 65M。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 GitHub 上一份个人从零实现的 PyTorch 版本。配置：6 层、8 头、d_model 512、FFN 2048、dropout 0.1、batch 128，与论文 base 结构一致。参数量 55,207,087，少于论文 65M，主要因为 Multi30K 词表更小。README 未说明分词方式、翻译方向细节和 BLEU 计算工具。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结论：这份复现只能证明实现能在小数据上正常训练，不能用来说明“复现到了论文水平”或“比论文低”。数据量相差约 150 倍。补充差异：论文 base 在 8 张 P100 上训练 10 万步约 12 小时；复现的学习率调度用 ReduceLROnPlateau，不是论文的 warmup 公式。Multi30K 规模（约 2.9 万训练句对）引自 Elliott et al., 2016。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受限自注意力在原文里只作为未来工作提出（§4、§7）。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这一页要结合组里自己的课题讲一句：我们的输入长度大概多少、会不会碰到 O(n²) 的显存上限。（需汇报人根据实际课题补充）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模拟导师问答（精简备份，完整版以对话交付为准）：</a:t>
            </a:r>
          </a:p>
          <a:p>
            <a:r>
              <a:t>Q：为什么要除以 √d_k？不缩放会怎样？</a:t>
            </a:r>
          </a:p>
          <a:p>
            <a:r>
              <a:t>A：q·k 的方差随 d_k 线性增长，点积过大时 softmax 进入饱和区、梯度极小；原文脚注 4 给出方差推导。</a:t>
            </a:r>
          </a:p>
          <a:p>
            <a:r>
              <a:t>Q：自注意力每层是 O(n²·d)，为什么还说比 RNN 快？</a:t>
            </a:r>
          </a:p>
          <a:p>
            <a:r>
              <a:t>A：关键是串行操作数 O(1) 对 O(n)，可以整层并行；且 n &lt; d 时（句子级翻译常见）每层计算量也更小。</a:t>
            </a:r>
          </a:p>
          <a:p>
            <a:r>
              <a:t>Q：多头注意力为什么不是头越多越好？</a:t>
            </a:r>
          </a:p>
          <a:p>
            <a:r>
              <a:t>A：总计算量固定，头越多每头维度越小；Table 3 (A)(B) 显示 d_k 过小会损害效果，32 头降到 25.4。</a:t>
            </a:r>
          </a:p>
          <a:p>
            <a:r>
              <a:t>Q：没有循环，模型怎么知道词序？为什么选正余弦位置编码？</a:t>
            </a:r>
          </a:p>
          <a:p>
            <a:r>
              <a:t>A：把正余弦编码加到输入嵌入上；作者假设它便于表达相对位置、能外推到更长序列，但可学习嵌入结果几乎相同（25.7 vs 25.8）。</a:t>
            </a:r>
          </a:p>
          <a:p>
            <a:r>
              <a:t>Q：训练成本的 FLOPs 是怎么算的？不同论文之间可比吗？</a:t>
            </a:r>
          </a:p>
          <a:p>
            <a:r>
              <a:t>A：训练时长 × GPU 数 × 单卡持续单精度算力（脚注 5），是粗略估计，没有计入实际硬件利用率差异。</a:t>
            </a:r>
          </a:p>
          <a:p>
            <a:r>
              <a:t>Q：复现得到 26.4 BLEU，能说明复现成功吗？</a:t>
            </a:r>
          </a:p>
          <a:p>
            <a:r>
              <a:t>A：不能直接和论文比：数据集、分词、BLEU 计算工具都不同；只能说明实现能在小数据集上正常收敛。</a:t>
            </a:r>
          </a:p>
          <a:p>
            <a:r>
              <a:t>（另有 2 题超出备注篇幅，见对话中的完整版）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69ED2-FFD1-C4DF-7AED-FAC58995C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31EAE0-3338-C77F-5B49-7FF19DEE9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D2345B-9E18-694D-EDD2-DFC13E37F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CCC7FD-469F-D9AA-B32A-92A0B170A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C4C58B-741C-7F84-035D-00F272FC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85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8ED02-367F-738C-53A1-42385F91F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944A9E-B90F-B38C-0558-3EF5A676B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FD7989-0B2E-D5C3-C1F2-BA194C91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953886-3F96-F1BB-8C14-68BD3D92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3BEA62-3236-F5E0-5447-67AC7FD3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41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34152-375D-B34B-4853-092241BDE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02FEA0-4EEB-FEDD-AFFC-9D8011DF0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D62828-DD36-4E76-12D0-9089D1BD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BB756D-633D-34DF-5F1D-C51AE6CD9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475CD4-0479-F4B1-545B-9B0438010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87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3331E-8ACE-6E88-981A-072D2418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E8B27B-60FC-BBAE-2B86-14980B99B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79A959-75DE-BD9A-3908-C13C20FFD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F77117-B9EE-FA7D-E30A-0A78266BE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2CCFB4-52B7-90CC-2133-7D810F2A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4EBABE-8C9D-BB01-216E-BA86FD6D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847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68F429-B139-D477-87CF-152CC84F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ACF370-50A2-4A44-B7DF-8C4E1943E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D25093-F894-E936-43F1-BD45C80FA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828602-AD94-17A8-AB81-7371494D5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CAD81B-8A72-EC6A-0382-8AD343879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F3BDF8A-CB24-1258-88D5-B426AA22E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A4207C-720D-D723-89A2-37612A8F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634FEE-B9A7-3DA3-0397-4E2D4E4D1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46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EE99B-F5B5-A148-9C01-C715D7C31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320AE4-4EFE-9DC9-BC3C-E3F02F3D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E2C0A2-1366-9F4C-15B5-06136D02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9D8A93-F552-7658-1B00-FF1126B7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11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32D4CF-0607-F452-472B-837E4190D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0C6375-D6B7-0B67-FF43-FC7CF9D0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DDF7D9-46BE-72B3-9D12-BAFE9C94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554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FE7E7-406F-5B22-1ACB-A606C14A7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316C4-4584-CE3D-3203-73DE89E8F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82003A-2A29-85CF-DE58-D28C9F0C1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5E4055-4177-BA0E-D947-B002667D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5FD84E-448F-0386-02A6-DCC088E7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F5B6C9-3877-1B4D-092B-63AC7682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295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81788-1629-1419-B6AF-33EA691B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3119889-99C6-8803-8C4E-E78B984A0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331548-5583-E788-5572-FDDE29F93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B8EEEC-A2EB-DB3D-FF58-5CF8E41C5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EB8B31-4B81-0F31-720B-33D63D0D4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E9E69A-E7E7-B362-67E6-F153E637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65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A3786-7C3D-424C-D253-7E80D8D08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A69DF5-33C6-2958-730F-543796572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8CEC4D-FA87-38B2-2407-9267A9D1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9360BE-1579-A99E-76AE-D571A435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8884EB-899D-780E-77B5-234E5B7E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6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F158DF-FA70-E70B-9F16-ABD4C6EC0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CC0A27-D1BD-17C9-6DE3-5AF0E19DC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BBE83-7258-045E-B148-57DCA4A7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D3C3DA-0801-8F18-43D4-9ACB7193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D867D6-D1C2-57A5-D386-26D10160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261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043" y="2130426"/>
            <a:ext cx="10363914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086" y="3886200"/>
            <a:ext cx="8535828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017" indent="0" algn="ctr">
              <a:buNone/>
              <a:defRPr/>
            </a:lvl2pPr>
            <a:lvl3pPr marL="914034" indent="0" algn="ctr">
              <a:buNone/>
              <a:defRPr/>
            </a:lvl3pPr>
            <a:lvl4pPr marL="1371051" indent="0" algn="ctr">
              <a:buNone/>
              <a:defRPr/>
            </a:lvl4pPr>
            <a:lvl5pPr marL="1828068" indent="0" algn="ctr">
              <a:buNone/>
              <a:defRPr/>
            </a:lvl5pPr>
            <a:lvl6pPr marL="2285086" indent="0" algn="ctr">
              <a:buNone/>
              <a:defRPr/>
            </a:lvl6pPr>
            <a:lvl7pPr marL="2742103" indent="0" algn="ctr">
              <a:buNone/>
              <a:defRPr/>
            </a:lvl7pPr>
            <a:lvl8pPr marL="3199120" indent="0" algn="ctr">
              <a:buNone/>
              <a:defRPr/>
            </a:lvl8pPr>
            <a:lvl9pPr marL="3656137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102613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74320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237" y="4406901"/>
            <a:ext cx="10362327" cy="1362075"/>
          </a:xfrm>
        </p:spPr>
        <p:txBody>
          <a:bodyPr anchor="t"/>
          <a:lstStyle>
            <a:lvl1pPr algn="l">
              <a:defRPr sz="3998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237" y="2906713"/>
            <a:ext cx="10362327" cy="1500187"/>
          </a:xfrm>
        </p:spPr>
        <p:txBody>
          <a:bodyPr anchor="b"/>
          <a:lstStyle>
            <a:lvl1pPr marL="0" indent="0">
              <a:buNone/>
              <a:defRPr sz="1999"/>
            </a:lvl1pPr>
            <a:lvl2pPr marL="457017" indent="0">
              <a:buNone/>
              <a:defRPr sz="1799"/>
            </a:lvl2pPr>
            <a:lvl3pPr marL="914034" indent="0">
              <a:buNone/>
              <a:defRPr sz="1599"/>
            </a:lvl3pPr>
            <a:lvl4pPr marL="1371051" indent="0">
              <a:buNone/>
              <a:defRPr sz="1399"/>
            </a:lvl4pPr>
            <a:lvl5pPr marL="1828068" indent="0">
              <a:buNone/>
              <a:defRPr sz="1399"/>
            </a:lvl5pPr>
            <a:lvl6pPr marL="2285086" indent="0">
              <a:buNone/>
              <a:defRPr sz="1399"/>
            </a:lvl6pPr>
            <a:lvl7pPr marL="2742103" indent="0">
              <a:buNone/>
              <a:defRPr sz="1399"/>
            </a:lvl7pPr>
            <a:lvl8pPr marL="3199120" indent="0">
              <a:buNone/>
              <a:defRPr sz="1399"/>
            </a:lvl8pPr>
            <a:lvl9pPr marL="3656137" indent="0">
              <a:buNone/>
              <a:defRPr sz="139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60426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362" y="1600201"/>
            <a:ext cx="5409675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378" y="1600201"/>
            <a:ext cx="5411261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23935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362" y="274638"/>
            <a:ext cx="1097327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363" y="1535113"/>
            <a:ext cx="5387458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17" indent="0">
              <a:buNone/>
              <a:defRPr sz="1999" b="1"/>
            </a:lvl2pPr>
            <a:lvl3pPr marL="914034" indent="0">
              <a:buNone/>
              <a:defRPr sz="1799" b="1"/>
            </a:lvl3pPr>
            <a:lvl4pPr marL="1371051" indent="0">
              <a:buNone/>
              <a:defRPr sz="1599" b="1"/>
            </a:lvl4pPr>
            <a:lvl5pPr marL="1828068" indent="0">
              <a:buNone/>
              <a:defRPr sz="1599" b="1"/>
            </a:lvl5pPr>
            <a:lvl6pPr marL="2285086" indent="0">
              <a:buNone/>
              <a:defRPr sz="1599" b="1"/>
            </a:lvl6pPr>
            <a:lvl7pPr marL="2742103" indent="0">
              <a:buNone/>
              <a:defRPr sz="1599" b="1"/>
            </a:lvl7pPr>
            <a:lvl8pPr marL="3199120" indent="0">
              <a:buNone/>
              <a:defRPr sz="1599" b="1"/>
            </a:lvl8pPr>
            <a:lvl9pPr marL="3656137" indent="0">
              <a:buNone/>
              <a:defRPr sz="15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363" y="2174875"/>
            <a:ext cx="5387458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593" y="1535113"/>
            <a:ext cx="5389045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17" indent="0">
              <a:buNone/>
              <a:defRPr sz="1999" b="1"/>
            </a:lvl2pPr>
            <a:lvl3pPr marL="914034" indent="0">
              <a:buNone/>
              <a:defRPr sz="1799" b="1"/>
            </a:lvl3pPr>
            <a:lvl4pPr marL="1371051" indent="0">
              <a:buNone/>
              <a:defRPr sz="1599" b="1"/>
            </a:lvl4pPr>
            <a:lvl5pPr marL="1828068" indent="0">
              <a:buNone/>
              <a:defRPr sz="1599" b="1"/>
            </a:lvl5pPr>
            <a:lvl6pPr marL="2285086" indent="0">
              <a:buNone/>
              <a:defRPr sz="1599" b="1"/>
            </a:lvl6pPr>
            <a:lvl7pPr marL="2742103" indent="0">
              <a:buNone/>
              <a:defRPr sz="1599" b="1"/>
            </a:lvl7pPr>
            <a:lvl8pPr marL="3199120" indent="0">
              <a:buNone/>
              <a:defRPr sz="1599" b="1"/>
            </a:lvl8pPr>
            <a:lvl9pPr marL="3656137" indent="0">
              <a:buNone/>
              <a:defRPr sz="15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593" y="2174875"/>
            <a:ext cx="5389045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70012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80343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0498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362" y="273050"/>
            <a:ext cx="4011633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988" y="273051"/>
            <a:ext cx="6815650" cy="5853113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362" y="1435101"/>
            <a:ext cx="4011633" cy="4691063"/>
          </a:xfrm>
        </p:spPr>
        <p:txBody>
          <a:bodyPr/>
          <a:lstStyle>
            <a:lvl1pPr marL="0" indent="0">
              <a:buNone/>
              <a:defRPr sz="1399"/>
            </a:lvl1pPr>
            <a:lvl2pPr marL="457017" indent="0">
              <a:buNone/>
              <a:defRPr sz="1200"/>
            </a:lvl2pPr>
            <a:lvl3pPr marL="914034" indent="0">
              <a:buNone/>
              <a:defRPr sz="1000"/>
            </a:lvl3pPr>
            <a:lvl4pPr marL="1371051" indent="0">
              <a:buNone/>
              <a:defRPr sz="900"/>
            </a:lvl4pPr>
            <a:lvl5pPr marL="1828068" indent="0">
              <a:buNone/>
              <a:defRPr sz="900"/>
            </a:lvl5pPr>
            <a:lvl6pPr marL="2285086" indent="0">
              <a:buNone/>
              <a:defRPr sz="900"/>
            </a:lvl6pPr>
            <a:lvl7pPr marL="2742103" indent="0">
              <a:buNone/>
              <a:defRPr sz="900"/>
            </a:lvl7pPr>
            <a:lvl8pPr marL="3199120" indent="0">
              <a:buNone/>
              <a:defRPr sz="900"/>
            </a:lvl8pPr>
            <a:lvl9pPr marL="3656137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18098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842" y="4800600"/>
            <a:ext cx="7315517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842" y="612775"/>
            <a:ext cx="7315517" cy="4114800"/>
          </a:xfrm>
        </p:spPr>
        <p:txBody>
          <a:bodyPr/>
          <a:lstStyle>
            <a:lvl1pPr marL="0" indent="0">
              <a:buNone/>
              <a:defRPr sz="3199"/>
            </a:lvl1pPr>
            <a:lvl2pPr marL="457017" indent="0">
              <a:buNone/>
              <a:defRPr sz="2799"/>
            </a:lvl2pPr>
            <a:lvl3pPr marL="914034" indent="0">
              <a:buNone/>
              <a:defRPr sz="2399"/>
            </a:lvl3pPr>
            <a:lvl4pPr marL="1371051" indent="0">
              <a:buNone/>
              <a:defRPr sz="1999"/>
            </a:lvl4pPr>
            <a:lvl5pPr marL="1828068" indent="0">
              <a:buNone/>
              <a:defRPr sz="1999"/>
            </a:lvl5pPr>
            <a:lvl6pPr marL="2285086" indent="0">
              <a:buNone/>
              <a:defRPr sz="1999"/>
            </a:lvl6pPr>
            <a:lvl7pPr marL="2742103" indent="0">
              <a:buNone/>
              <a:defRPr sz="1999"/>
            </a:lvl7pPr>
            <a:lvl8pPr marL="3199120" indent="0">
              <a:buNone/>
              <a:defRPr sz="1999"/>
            </a:lvl8pPr>
            <a:lvl9pPr marL="3656137" indent="0">
              <a:buNone/>
              <a:defRPr sz="1999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842" y="5367338"/>
            <a:ext cx="7315517" cy="804862"/>
          </a:xfrm>
        </p:spPr>
        <p:txBody>
          <a:bodyPr/>
          <a:lstStyle>
            <a:lvl1pPr marL="0" indent="0">
              <a:buNone/>
              <a:defRPr sz="1399"/>
            </a:lvl1pPr>
            <a:lvl2pPr marL="457017" indent="0">
              <a:buNone/>
              <a:defRPr sz="1200"/>
            </a:lvl2pPr>
            <a:lvl3pPr marL="914034" indent="0">
              <a:buNone/>
              <a:defRPr sz="1000"/>
            </a:lvl3pPr>
            <a:lvl4pPr marL="1371051" indent="0">
              <a:buNone/>
              <a:defRPr sz="900"/>
            </a:lvl4pPr>
            <a:lvl5pPr marL="1828068" indent="0">
              <a:buNone/>
              <a:defRPr sz="900"/>
            </a:lvl5pPr>
            <a:lvl6pPr marL="2285086" indent="0">
              <a:buNone/>
              <a:defRPr sz="900"/>
            </a:lvl6pPr>
            <a:lvl7pPr marL="2742103" indent="0">
              <a:buNone/>
              <a:defRPr sz="900"/>
            </a:lvl7pPr>
            <a:lvl8pPr marL="3199120" indent="0">
              <a:buNone/>
              <a:defRPr sz="900"/>
            </a:lvl8pPr>
            <a:lvl9pPr marL="3656137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649559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404846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509" y="908050"/>
            <a:ext cx="2742129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362" y="908050"/>
            <a:ext cx="8078807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31692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FC5C5D-6D73-B350-12E0-B6068D40E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B4EFAF-325B-9CC0-DCB2-ED1F495C9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3AADE2-3D83-1644-15E1-EB4B4037B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5278E-AD50-1BA4-9E4F-0E11276F9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678A1B-F383-EBA3-5F67-98D1AC7D8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55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BF74BE6-A979-AF9C-3969-255C34E0C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362" y="908050"/>
            <a:ext cx="10973276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5C0A54F-1DEE-264C-440B-9794E9878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362" y="1600201"/>
            <a:ext cx="1097327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288560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5pPr>
      <a:lvl6pPr marL="457017"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6pPr>
      <a:lvl7pPr marL="914034"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7pPr>
      <a:lvl8pPr marL="1371051"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8pPr>
      <a:lvl9pPr marL="1828068"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9pPr>
    </p:titleStyle>
    <p:bodyStyle>
      <a:lvl1pPr marL="342763" indent="-342763" algn="l" rtl="0" eaLnBrk="0" fontAlgn="base" hangingPunct="0">
        <a:spcBef>
          <a:spcPct val="20000"/>
        </a:spcBef>
        <a:spcAft>
          <a:spcPct val="0"/>
        </a:spcAft>
        <a:buChar char="•"/>
        <a:defRPr sz="1999">
          <a:solidFill>
            <a:schemeClr val="accent1"/>
          </a:solidFill>
          <a:latin typeface="+mn-lt"/>
          <a:ea typeface="+mn-ea"/>
          <a:cs typeface="+mn-cs"/>
        </a:defRPr>
      </a:lvl1pPr>
      <a:lvl2pPr marL="742653" indent="-285636" algn="l" rtl="0" eaLnBrk="0" fontAlgn="base" hangingPunct="0">
        <a:spcBef>
          <a:spcPct val="20000"/>
        </a:spcBef>
        <a:spcAft>
          <a:spcPct val="0"/>
        </a:spcAft>
        <a:buChar char="–"/>
        <a:defRPr sz="1999">
          <a:solidFill>
            <a:schemeClr val="accent1"/>
          </a:solidFill>
          <a:latin typeface="+mn-lt"/>
          <a:ea typeface="仿宋_GB2312" pitchFamily="1" charset="-122"/>
        </a:defRPr>
      </a:lvl2pPr>
      <a:lvl3pPr marL="1142543" indent="-228509" algn="l" rtl="0" eaLnBrk="0" fontAlgn="base" hangingPunct="0">
        <a:spcBef>
          <a:spcPct val="20000"/>
        </a:spcBef>
        <a:spcAft>
          <a:spcPct val="0"/>
        </a:spcAft>
        <a:buChar char="•"/>
        <a:defRPr sz="2399">
          <a:solidFill>
            <a:schemeClr val="tx1"/>
          </a:solidFill>
          <a:latin typeface="+mn-lt"/>
          <a:ea typeface="宋体" pitchFamily="2" charset="-122"/>
        </a:defRPr>
      </a:lvl3pPr>
      <a:lvl4pPr marL="1599560" indent="-228509" algn="l" rtl="0" eaLnBrk="0" fontAlgn="base" hangingPunct="0">
        <a:spcBef>
          <a:spcPct val="20000"/>
        </a:spcBef>
        <a:spcAft>
          <a:spcPct val="0"/>
        </a:spcAft>
        <a:buChar char="–"/>
        <a:defRPr sz="1999">
          <a:solidFill>
            <a:schemeClr val="tx1"/>
          </a:solidFill>
          <a:latin typeface="+mn-lt"/>
          <a:ea typeface="宋体" pitchFamily="2" charset="-122"/>
        </a:defRPr>
      </a:lvl4pPr>
      <a:lvl5pPr marL="2056577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5pPr>
      <a:lvl6pPr marL="2513594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6pPr>
      <a:lvl7pPr marL="2970611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7pPr>
      <a:lvl8pPr marL="3427628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8pPr>
      <a:lvl9pPr marL="3884646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Relationship Id="rId1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Relationship Id="rId1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Relationship Id="rId12" Type="http://schemas.openxmlformats.org/officeDocument/2006/relationships/image" Target="../media/image5.png"/><Relationship Id="rId1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Relationship Id="rId12" Type="http://schemas.openxmlformats.org/officeDocument/2006/relationships/image" Target="../media/image6.png"/><Relationship Id="rId1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Relationship Id="rId12" Type="http://schemas.openxmlformats.org/officeDocument/2006/relationships/image" Target="../media/image7.png"/><Relationship Id="rId1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Relationship Id="rId1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Relationship Id="rId1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Relationship Id="rId12" Type="http://schemas.openxmlformats.org/officeDocument/2006/relationships/chart" Target="../charts/chart1.xml"/><Relationship Id="rId13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Relationship Id="rId12" Type="http://schemas.openxmlformats.org/officeDocument/2006/relationships/chart" Target="../charts/chart2.xml"/><Relationship Id="rId13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Relationship Id="rId1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Relationship Id="rId1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Relationship Id="rId1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Relationship Id="rId1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" name="shell_矩形 9">
            <a:extLst>
              <a:ext uri="{FF2B5EF4-FFF2-40B4-BE49-F238E27FC236}">
                <a16:creationId xmlns:a16="http://schemas.microsoft.com/office/drawing/2014/main" id="{17578D50-D84B-9736-E868-DC36CA15E04C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F6A7B">
              <a:alpha val="49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105" name="shell_图片 104">
            <a:extLst>
              <a:ext uri="{FF2B5EF4-FFF2-40B4-BE49-F238E27FC236}">
                <a16:creationId xmlns:a16="http://schemas.microsoft.com/office/drawing/2014/main" id="{F51D505C-3A91-A270-A9B7-979E448F3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174" y="309563"/>
            <a:ext cx="1583984" cy="1847981"/>
          </a:xfrm>
          <a:prstGeom prst="rect">
            <a:avLst/>
          </a:prstGeom>
        </p:spPr>
      </p:pic>
      <p:grpSp>
        <p:nvGrpSpPr>
          <p:cNvPr id="28" name="shell_组合 27">
            <a:extLst>
              <a:ext uri="{FF2B5EF4-FFF2-40B4-BE49-F238E27FC236}">
                <a16:creationId xmlns:a16="http://schemas.microsoft.com/office/drawing/2014/main" id="{8CBAE767-FBC7-DA18-9871-E78470D017D8}"/>
              </a:ext>
            </a:extLst>
          </p:cNvPr>
          <p:cNvGrpSpPr/>
          <p:nvPr/>
        </p:nvGrpSpPr>
        <p:grpSpPr>
          <a:xfrm>
            <a:off x="507999" y="702733"/>
            <a:ext cx="11168334" cy="0"/>
            <a:chOff x="812800" y="702733"/>
            <a:chExt cx="11168334" cy="0"/>
          </a:xfrm>
        </p:grpSpPr>
        <p:cxnSp>
          <p:nvCxnSpPr>
            <p:cNvPr id="24" name="shell_直接连接符 23">
              <a:extLst>
                <a:ext uri="{FF2B5EF4-FFF2-40B4-BE49-F238E27FC236}">
                  <a16:creationId xmlns:a16="http://schemas.microsoft.com/office/drawing/2014/main" id="{4F373642-BA80-0F0F-02A7-2F4A2F7667D6}"/>
                </a:ext>
              </a:extLst>
            </p:cNvPr>
            <p:cNvCxnSpPr/>
            <p:nvPr/>
          </p:nvCxnSpPr>
          <p:spPr bwMode="auto">
            <a:xfrm>
              <a:off x="812800" y="702733"/>
              <a:ext cx="4470400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shell_直接连接符 24">
              <a:extLst>
                <a:ext uri="{FF2B5EF4-FFF2-40B4-BE49-F238E27FC236}">
                  <a16:creationId xmlns:a16="http://schemas.microsoft.com/office/drawing/2014/main" id="{B50B7062-8696-BCB3-ACB4-29F666473ECD}"/>
                </a:ext>
              </a:extLst>
            </p:cNvPr>
            <p:cNvCxnSpPr/>
            <p:nvPr/>
          </p:nvCxnSpPr>
          <p:spPr bwMode="auto">
            <a:xfrm>
              <a:off x="7509934" y="702733"/>
              <a:ext cx="4471200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TextBox 105"/>
          <p:cNvSpPr txBox="1"/>
          <p:nvPr/>
        </p:nvSpPr>
        <p:spPr>
          <a:xfrm>
            <a:off x="841248" y="25146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800" b="0">
                <a:solidFill>
                  <a:srgbClr val="FFFFFF"/>
                </a:solidFill>
                <a:latin typeface="Segoe UI Light"/>
                <a:ea typeface="微软雅黑 Light"/>
                <a:cs typeface="Segoe UI Light"/>
              </a:rPr>
              <a:t>Attention Is All You Need 论文精读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1248" y="367588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AAC6CA"/>
                </a:solidFill>
                <a:latin typeface="Arial"/>
                <a:ea typeface="微软雅黑"/>
                <a:cs typeface="Arial"/>
              </a:rPr>
              <a:t>Vaswani et al., NIPS 2017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377440" y="4480560"/>
            <a:ext cx="749808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汇报人：张同学 ｜ 信息科学技术学院</a:t>
            </a:r>
          </a:p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2026-09-23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hell_矩形 4">
            <a:extLst>
              <a:ext uri="{FF2B5EF4-FFF2-40B4-BE49-F238E27FC236}">
                <a16:creationId xmlns:a16="http://schemas.microsoft.com/office/drawing/2014/main" id="{AA8E890F-5AED-CE85-F761-1C758BB5ACAF}"/>
              </a:ext>
            </a:extLst>
          </p:cNvPr>
          <p:cNvSpPr/>
          <p:nvPr/>
        </p:nvSpPr>
        <p:spPr>
          <a:xfrm>
            <a:off x="-2237" y="62363"/>
            <a:ext cx="12183110" cy="5973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04800" dist="38100" dir="5400000" algn="t" rotWithShape="0">
              <a:sysClr val="windowText" lastClr="000000">
                <a:lumMod val="50000"/>
                <a:lumOff val="50000"/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shell_矩形 5">
            <a:extLst>
              <a:ext uri="{FF2B5EF4-FFF2-40B4-BE49-F238E27FC236}">
                <a16:creationId xmlns:a16="http://schemas.microsoft.com/office/drawing/2014/main" id="{923162C7-1E9E-68AA-36D8-5E06D4AB4DE8}"/>
              </a:ext>
            </a:extLst>
          </p:cNvPr>
          <p:cNvSpPr/>
          <p:nvPr/>
        </p:nvSpPr>
        <p:spPr>
          <a:xfrm rot="10800000">
            <a:off x="-2237" y="590270"/>
            <a:ext cx="12190368" cy="80607"/>
          </a:xfrm>
          <a:prstGeom prst="rect">
            <a:avLst/>
          </a:prstGeom>
          <a:solidFill>
            <a:srgbClr val="0F6A7B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2" name="shell_图片 1">
            <a:extLst>
              <a:ext uri="{FF2B5EF4-FFF2-40B4-BE49-F238E27FC236}">
                <a16:creationId xmlns:a16="http://schemas.microsoft.com/office/drawing/2014/main" id="{B618D828-0A56-3F44-B1BE-E018E2F42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02" y="88467"/>
            <a:ext cx="1440626" cy="4614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822960"/>
            <a:ext cx="10927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AAC6CA"/>
                </a:solidFill>
                <a:latin typeface="Arial"/>
                <a:ea typeface="微软雅黑"/>
                <a:cs typeface="Arial"/>
              </a:rPr>
              <a:t>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目录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AAC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783080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AAC6CA"/>
                </a:solidFill>
                <a:latin typeface="Segoe UI Light"/>
                <a:ea typeface="微软雅黑 Light"/>
                <a:cs typeface="Segoe UI Ligh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783080"/>
            <a:ext cx="427482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问题与动机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AAC6CA"/>
                </a:solidFill>
                <a:latin typeface="Arial"/>
                <a:ea typeface="微软雅黑"/>
                <a:cs typeface="Arial"/>
              </a:rPr>
              <a:t>Motivation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00200" y="2742834"/>
            <a:ext cx="4274820" cy="0"/>
          </a:xfrm>
          <a:prstGeom prst="line">
            <a:avLst/>
          </a:prstGeom>
          <a:ln w="9525">
            <a:solidFill>
              <a:srgbClr val="AAC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2953512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AAC6CA"/>
                </a:solidFill>
                <a:latin typeface="Segoe UI Light"/>
                <a:ea typeface="微软雅黑 Light"/>
                <a:cs typeface="Segoe UI Ligh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953512"/>
            <a:ext cx="427482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方法拆解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AAC6CA"/>
                </a:solidFill>
                <a:latin typeface="Arial"/>
                <a:ea typeface="微软雅黑"/>
                <a:cs typeface="Arial"/>
              </a:rPr>
              <a:t>Method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3913266"/>
            <a:ext cx="4274820" cy="0"/>
          </a:xfrm>
          <a:prstGeom prst="line">
            <a:avLst/>
          </a:prstGeom>
          <a:ln w="9525">
            <a:solidFill>
              <a:srgbClr val="AAC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4123944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AAC6CA"/>
                </a:solidFill>
                <a:latin typeface="Segoe UI Light"/>
                <a:ea typeface="微软雅黑 Light"/>
                <a:cs typeface="Segoe UI Ligh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123944"/>
            <a:ext cx="427482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论文证据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AAC6CA"/>
                </a:solidFill>
                <a:latin typeface="Arial"/>
                <a:ea typeface="微软雅黑"/>
                <a:cs typeface="Arial"/>
              </a:rPr>
              <a:t>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00200" y="5083698"/>
            <a:ext cx="4274820" cy="0"/>
          </a:xfrm>
          <a:prstGeom prst="line">
            <a:avLst/>
          </a:prstGeom>
          <a:ln w="9525">
            <a:solidFill>
              <a:srgbClr val="AAC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32220" y="1783080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AAC6CA"/>
                </a:solidFill>
                <a:latin typeface="Segoe UI Light"/>
                <a:ea typeface="微软雅黑 Light"/>
                <a:cs typeface="Segoe UI Light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2340" y="1783080"/>
            <a:ext cx="427482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复现与评价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AAC6CA"/>
                </a:solidFill>
                <a:latin typeface="Arial"/>
                <a:ea typeface="微软雅黑"/>
                <a:cs typeface="Arial"/>
              </a:rPr>
              <a:t>Reproduction &amp; Critique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92340" y="2742834"/>
            <a:ext cx="4274820" cy="0"/>
          </a:xfrm>
          <a:prstGeom prst="line">
            <a:avLst/>
          </a:prstGeom>
          <a:ln w="9525">
            <a:solidFill>
              <a:srgbClr val="AAC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32220" y="2953512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AAC6CA"/>
                </a:solidFill>
                <a:latin typeface="Segoe UI Light"/>
                <a:ea typeface="微软雅黑 Light"/>
                <a:cs typeface="Segoe UI Light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2340" y="2953512"/>
            <a:ext cx="427482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对我们的启发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AAC6CA"/>
                </a:solidFill>
                <a:latin typeface="Arial"/>
                <a:ea typeface="微软雅黑"/>
                <a:cs typeface="Arial"/>
              </a:rPr>
              <a:t>Takeaways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92340" y="3913266"/>
            <a:ext cx="4274820" cy="0"/>
          </a:xfrm>
          <a:prstGeom prst="line">
            <a:avLst/>
          </a:prstGeom>
          <a:ln w="9525">
            <a:solidFill>
              <a:srgbClr val="AAC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hell_矩形 4">
            <a:extLst>
              <a:ext uri="{FF2B5EF4-FFF2-40B4-BE49-F238E27FC236}">
                <a16:creationId xmlns:a16="http://schemas.microsoft.com/office/drawing/2014/main" id="{AA8E890F-5AED-CE85-F761-1C758BB5ACAF}"/>
              </a:ext>
            </a:extLst>
          </p:cNvPr>
          <p:cNvSpPr/>
          <p:nvPr/>
        </p:nvSpPr>
        <p:spPr>
          <a:xfrm>
            <a:off x="-2237" y="62363"/>
            <a:ext cx="12183110" cy="5973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04800" dist="38100" dir="5400000" algn="t" rotWithShape="0">
              <a:sysClr val="windowText" lastClr="000000">
                <a:lumMod val="50000"/>
                <a:lumOff val="50000"/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shell_矩形 5">
            <a:extLst>
              <a:ext uri="{FF2B5EF4-FFF2-40B4-BE49-F238E27FC236}">
                <a16:creationId xmlns:a16="http://schemas.microsoft.com/office/drawing/2014/main" id="{923162C7-1E9E-68AA-36D8-5E06D4AB4DE8}"/>
              </a:ext>
            </a:extLst>
          </p:cNvPr>
          <p:cNvSpPr/>
          <p:nvPr/>
        </p:nvSpPr>
        <p:spPr>
          <a:xfrm rot="10800000">
            <a:off x="-2237" y="590270"/>
            <a:ext cx="12190368" cy="80607"/>
          </a:xfrm>
          <a:prstGeom prst="rect">
            <a:avLst/>
          </a:prstGeom>
          <a:solidFill>
            <a:srgbClr val="0F6A7B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2" name="shell_图片 1">
            <a:extLst>
              <a:ext uri="{FF2B5EF4-FFF2-40B4-BE49-F238E27FC236}">
                <a16:creationId xmlns:a16="http://schemas.microsoft.com/office/drawing/2014/main" id="{B618D828-0A56-3F44-B1BE-E018E2F42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02" y="88467"/>
            <a:ext cx="1440626" cy="461411"/>
          </a:xfrm>
          <a:prstGeom prst="rect">
            <a:avLst/>
          </a:prstGeom>
        </p:spPr>
      </p:pic>
      <p:sp>
        <p:nvSpPr>
          <p:cNvPr id="7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nav_1"/>
          <p:cNvSpPr/>
          <p:nvPr/>
        </p:nvSpPr>
        <p:spPr>
          <a:xfrm>
            <a:off x="594360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10" name="nav_2"/>
          <p:cNvSpPr/>
          <p:nvPr/>
        </p:nvSpPr>
        <p:spPr>
          <a:xfrm>
            <a:off x="2816352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11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12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13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148840"/>
            <a:ext cx="23774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0">
                <a:solidFill>
                  <a:srgbClr val="AAC6CA"/>
                </a:solidFill>
                <a:latin typeface="Segoe UI Light"/>
                <a:ea typeface="微软雅黑 Light"/>
                <a:cs typeface="Segoe UI Light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14600"/>
            <a:ext cx="71323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611880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AAC6CA"/>
                </a:solidFill>
                <a:latin typeface="Arial"/>
                <a:ea typeface="微软雅黑"/>
                <a:cs typeface="Arial"/>
              </a:rPr>
              <a:t>Motivation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80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nav_1"/>
          <p:cNvSpPr/>
          <p:nvPr/>
        </p:nvSpPr>
        <p:spPr>
          <a:xfrm>
            <a:off x="594360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83" name="nav_2"/>
          <p:cNvSpPr/>
          <p:nvPr/>
        </p:nvSpPr>
        <p:spPr>
          <a:xfrm>
            <a:off x="2816352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84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85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86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822960"/>
            <a:ext cx="10927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RNN 的串行计算，是长序列训练的瓶颈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CF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40080" y="2185416"/>
            <a:ext cx="10927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0F6A7B"/>
                </a:solidFill>
                <a:latin typeface="Arial"/>
                <a:ea typeface="微软雅黑"/>
                <a:cs typeface="Arial"/>
              </a:rPr>
              <a:t>第 t 步必须等第 t−1 步算完：序列越长越难并行，也越难学到远距离依赖。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3072384"/>
            <a:ext cx="10927080" cy="3236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循环网络按位置逐步计算，同一个训练样本内部无法并行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显存又限制了跨样本的批处理，长序列时矛盾更突出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此前的注意力机制几乎都搭配 RNN 使用，没有摆脱串行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ConvS2S、ByteNet 可以并行，但远距离依赖的路径随距离增长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" y="6419088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来源：Vaswani et al., 2017, §1–2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80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nav_1"/>
          <p:cNvSpPr/>
          <p:nvPr/>
        </p:nvSpPr>
        <p:spPr>
          <a:xfrm>
            <a:off x="594360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83" name="nav_2"/>
          <p:cNvSpPr/>
          <p:nvPr/>
        </p:nvSpPr>
        <p:spPr>
          <a:xfrm>
            <a:off x="2816352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84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85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86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822960"/>
            <a:ext cx="10927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Table 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自注意力把任意两位置的路径缩短到 O(1)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CF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640080" y="2720340"/>
          <a:ext cx="109270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770"/>
                <a:gridCol w="2731770"/>
                <a:gridCol w="2731770"/>
                <a:gridCol w="2731770"/>
              </a:tblGrid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层类型</a:t>
                      </a:r>
                    </a:p>
                  </a:txBody>
                  <a:tcPr marL="109728" marR="109728" marT="36576" marB="36576" anchor="ctr">
                    <a:solidFill>
                      <a:srgbClr val="0F6A7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每层复杂度</a:t>
                      </a:r>
                    </a:p>
                  </a:txBody>
                  <a:tcPr marL="109728" marR="109728" marT="36576" marB="36576" anchor="ctr">
                    <a:solidFill>
                      <a:srgbClr val="0F6A7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串行操作数</a:t>
                      </a:r>
                    </a:p>
                  </a:txBody>
                  <a:tcPr marL="109728" marR="109728" marT="36576" marB="36576" anchor="ctr">
                    <a:solidFill>
                      <a:srgbClr val="0F6A7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最大路径长度</a:t>
                      </a:r>
                    </a:p>
                  </a:txBody>
                  <a:tcPr marL="109728" marR="109728" marT="36576" marB="36576" anchor="ctr">
                    <a:solidFill>
                      <a:srgbClr val="0F6A7B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自注意力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O(n²·d)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循环层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O(n·d²)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O(n)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O(n)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卷积层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O(k·n·d²)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O(logₖ n)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受限自注意力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O(r·n·d)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O(n/r)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640080" y="6419088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来源：Vaswani et al., 2017, Table 1（n 序列长度，d 表示维度，k 卷积核，r 邻域大小）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hell_矩形 4">
            <a:extLst>
              <a:ext uri="{FF2B5EF4-FFF2-40B4-BE49-F238E27FC236}">
                <a16:creationId xmlns:a16="http://schemas.microsoft.com/office/drawing/2014/main" id="{AA8E890F-5AED-CE85-F761-1C758BB5ACAF}"/>
              </a:ext>
            </a:extLst>
          </p:cNvPr>
          <p:cNvSpPr/>
          <p:nvPr/>
        </p:nvSpPr>
        <p:spPr>
          <a:xfrm>
            <a:off x="-2237" y="62363"/>
            <a:ext cx="12183110" cy="5973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04800" dist="38100" dir="5400000" algn="t" rotWithShape="0">
              <a:sysClr val="windowText" lastClr="000000">
                <a:lumMod val="50000"/>
                <a:lumOff val="50000"/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shell_矩形 5">
            <a:extLst>
              <a:ext uri="{FF2B5EF4-FFF2-40B4-BE49-F238E27FC236}">
                <a16:creationId xmlns:a16="http://schemas.microsoft.com/office/drawing/2014/main" id="{923162C7-1E9E-68AA-36D8-5E06D4AB4DE8}"/>
              </a:ext>
            </a:extLst>
          </p:cNvPr>
          <p:cNvSpPr/>
          <p:nvPr/>
        </p:nvSpPr>
        <p:spPr>
          <a:xfrm rot="10800000">
            <a:off x="-2237" y="590270"/>
            <a:ext cx="12190368" cy="80607"/>
          </a:xfrm>
          <a:prstGeom prst="rect">
            <a:avLst/>
          </a:prstGeom>
          <a:solidFill>
            <a:srgbClr val="0F6A7B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2" name="shell_图片 1">
            <a:extLst>
              <a:ext uri="{FF2B5EF4-FFF2-40B4-BE49-F238E27FC236}">
                <a16:creationId xmlns:a16="http://schemas.microsoft.com/office/drawing/2014/main" id="{B618D828-0A56-3F44-B1BE-E018E2F42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02" y="88467"/>
            <a:ext cx="1440626" cy="461411"/>
          </a:xfrm>
          <a:prstGeom prst="rect">
            <a:avLst/>
          </a:prstGeom>
        </p:spPr>
      </p:pic>
      <p:sp>
        <p:nvSpPr>
          <p:cNvPr id="7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10" name="nav_2"/>
          <p:cNvSpPr/>
          <p:nvPr/>
        </p:nvSpPr>
        <p:spPr>
          <a:xfrm>
            <a:off x="2816352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11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12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13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148840"/>
            <a:ext cx="23774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0">
                <a:solidFill>
                  <a:srgbClr val="AAC6CA"/>
                </a:solidFill>
                <a:latin typeface="Segoe UI Light"/>
                <a:ea typeface="微软雅黑 Light"/>
                <a:cs typeface="Segoe UI Ligh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14600"/>
            <a:ext cx="71323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611880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AAC6CA"/>
                </a:solidFill>
                <a:latin typeface="Arial"/>
                <a:ea typeface="微软雅黑"/>
                <a:cs typeface="Arial"/>
              </a:rPr>
              <a:t>Method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80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83" name="nav_2"/>
          <p:cNvSpPr/>
          <p:nvPr/>
        </p:nvSpPr>
        <p:spPr>
          <a:xfrm>
            <a:off x="2816352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84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85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86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编码器与解码器全部由注意力和前馈层堆叠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CF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Picture 88" descr="fig1_architectur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5440" y="1783080"/>
            <a:ext cx="2860113" cy="4142232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640080" y="5980176"/>
            <a:ext cx="43708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图 1　Transformer 整体结构（原文 Fig. 1）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22392" y="2252472"/>
            <a:ext cx="614476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0F6A7B"/>
                </a:solidFill>
                <a:latin typeface="Arial"/>
                <a:ea typeface="微软雅黑"/>
                <a:cs typeface="Arial"/>
              </a:rPr>
              <a:t>6 层编码器 + 6 层解码器，d_model = 512，没有任何循环或卷积。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22392" y="3093720"/>
            <a:ext cx="6144768" cy="321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每层两个子层：多头自注意力 + 逐位置前馈网络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每个子层外面套残差连接，再做 LayerNorm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解码器多一个编码器-解码器注意力，用来读取源句表示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解码器的自注意力加掩码，保证只看已经生成的词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" y="6419088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来源：Vaswani et al., 2017, §3.1, Fig.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80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83" name="nav_2"/>
          <p:cNvSpPr/>
          <p:nvPr/>
        </p:nvSpPr>
        <p:spPr>
          <a:xfrm>
            <a:off x="2816352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84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85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86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缩放点积注意力：除以 √d_k 防止 softmax 饱和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CF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Picture 88" descr="fig2a_scaled_do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9036" y="1872643"/>
            <a:ext cx="3278124" cy="3963105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8289036" y="5980176"/>
            <a:ext cx="32781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图 2（左）缩放点积注意力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2252472"/>
            <a:ext cx="723747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0F6A7B"/>
                </a:solidFill>
                <a:latin typeface="Arial"/>
                <a:ea typeface="微软雅黑"/>
                <a:cs typeface="Arial"/>
              </a:rPr>
              <a:t>Attention(Q, K, V) = softmax(QKᵀ / √d_k) · V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" y="3093720"/>
            <a:ext cx="7237476" cy="321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Q 与所有 K 做点积得到相关度，softmax 后对 V 加权求和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q·k 的方差随 d_k 增长，不缩放会把 softmax 推进梯度极小区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与加性注意力理论复杂度相当，但能用矩阵乘法高度优化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掩码把非法位置置为 −∞，解码器靠它屏蔽未来信息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" y="6419088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来源：Vaswani et al., 2017, §3.2.1, 式 (1)，脚注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80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83" name="nav_2"/>
          <p:cNvSpPr/>
          <p:nvPr/>
        </p:nvSpPr>
        <p:spPr>
          <a:xfrm>
            <a:off x="2816352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84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85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86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多头注意力：8 个 64 维的头并行计算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CF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Picture 88" descr="fig2b_multihea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9036" y="1833435"/>
            <a:ext cx="3278124" cy="4041523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8289036" y="5980176"/>
            <a:ext cx="32781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图 2（右）多头注意力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2252472"/>
            <a:ext cx="723747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0F6A7B"/>
                </a:solidFill>
                <a:latin typeface="Arial"/>
                <a:ea typeface="微软雅黑"/>
                <a:cs typeface="Arial"/>
              </a:rPr>
              <a:t>计算量与单头全维度相当，却能同时关注不同子空间。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" y="3093720"/>
            <a:ext cx="7237476" cy="321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每个头先把 Q、K、V 线性投影到 64 维，再各自做注意力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8 个头的输出拼接后，再做一次线性投影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三处使用：编码器自注意力、解码器掩码自注意力、编解码注意力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单头比最佳设置低 0.9 BLEU（Table 3 A 组）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" y="6419088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来源：Vaswani et al., 2017, §3.2.2–3.2.3, Table 3 (A)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80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83" name="nav_2"/>
          <p:cNvSpPr/>
          <p:nvPr/>
        </p:nvSpPr>
        <p:spPr>
          <a:xfrm>
            <a:off x="2816352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84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85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86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去掉循环后，三个细节补回顺序与稳定性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CF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card_1"/>
          <p:cNvSpPr/>
          <p:nvPr/>
        </p:nvSpPr>
        <p:spPr>
          <a:xfrm>
            <a:off x="640080" y="2928112"/>
            <a:ext cx="3447288" cy="2236216"/>
          </a:xfrm>
          <a:prstGeom prst="roundRect">
            <a:avLst>
              <a:gd name="adj" fmla="val 5000"/>
            </a:avLst>
          </a:prstGeom>
          <a:solidFill>
            <a:srgbClr val="EEF5F6"/>
          </a:solidFill>
          <a:ln w="12700">
            <a:solidFill>
              <a:srgbClr val="CF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7824" y="311099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F6A7B"/>
                </a:solidFill>
                <a:latin typeface="Arial"/>
                <a:ea typeface="微软雅黑"/>
                <a:cs typeface="Arial"/>
              </a:rPr>
              <a:t>01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7824" y="354990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位置编码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7824" y="4171696"/>
            <a:ext cx="2971800" cy="86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· 正余弦函数，波长成几何级数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· 换成可学习嵌入：25.7 vs 25.8</a:t>
            </a:r>
          </a:p>
        </p:txBody>
      </p:sp>
      <p:sp>
        <p:nvSpPr>
          <p:cNvPr id="93" name="card_2"/>
          <p:cNvSpPr/>
          <p:nvPr/>
        </p:nvSpPr>
        <p:spPr>
          <a:xfrm>
            <a:off x="4379976" y="2928112"/>
            <a:ext cx="3447288" cy="2236216"/>
          </a:xfrm>
          <a:prstGeom prst="roundRect">
            <a:avLst>
              <a:gd name="adj" fmla="val 5000"/>
            </a:avLst>
          </a:prstGeom>
          <a:solidFill>
            <a:srgbClr val="EEF5F6"/>
          </a:solidFill>
          <a:ln w="12700">
            <a:solidFill>
              <a:srgbClr val="CF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17720" y="311099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F6A7B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17720" y="354990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逐位置前馈网络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17720" y="4171696"/>
            <a:ext cx="2971800" cy="86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· 每个位置独立的两层全连接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· 中间维度 2048，ReLU 激活</a:t>
            </a:r>
          </a:p>
        </p:txBody>
      </p:sp>
      <p:sp>
        <p:nvSpPr>
          <p:cNvPr id="97" name="card_3"/>
          <p:cNvSpPr/>
          <p:nvPr/>
        </p:nvSpPr>
        <p:spPr>
          <a:xfrm>
            <a:off x="8119872" y="2928112"/>
            <a:ext cx="3447288" cy="2236216"/>
          </a:xfrm>
          <a:prstGeom prst="roundRect">
            <a:avLst>
              <a:gd name="adj" fmla="val 5000"/>
            </a:avLst>
          </a:prstGeom>
          <a:solidFill>
            <a:srgbClr val="EEF5F6"/>
          </a:solidFill>
          <a:ln w="12700">
            <a:solidFill>
              <a:srgbClr val="CF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57616" y="311099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F6A7B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57616" y="354990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训练配方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57616" y="4171696"/>
            <a:ext cx="2971800" cy="86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· Adam，前 4000 步线性 warmup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· Dropout 0.1，标签平滑 0.1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" y="6419088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来源：Vaswani et al., 2017, §3.3, §3.5, §5.3–5.4, Table 3 (E)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hell_矩形 4">
            <a:extLst>
              <a:ext uri="{FF2B5EF4-FFF2-40B4-BE49-F238E27FC236}">
                <a16:creationId xmlns:a16="http://schemas.microsoft.com/office/drawing/2014/main" id="{AA8E890F-5AED-CE85-F761-1C758BB5ACAF}"/>
              </a:ext>
            </a:extLst>
          </p:cNvPr>
          <p:cNvSpPr/>
          <p:nvPr/>
        </p:nvSpPr>
        <p:spPr>
          <a:xfrm>
            <a:off x="-2237" y="62363"/>
            <a:ext cx="12183110" cy="5973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04800" dist="38100" dir="5400000" algn="t" rotWithShape="0">
              <a:sysClr val="windowText" lastClr="000000">
                <a:lumMod val="50000"/>
                <a:lumOff val="50000"/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shell_矩形 5">
            <a:extLst>
              <a:ext uri="{FF2B5EF4-FFF2-40B4-BE49-F238E27FC236}">
                <a16:creationId xmlns:a16="http://schemas.microsoft.com/office/drawing/2014/main" id="{923162C7-1E9E-68AA-36D8-5E06D4AB4DE8}"/>
              </a:ext>
            </a:extLst>
          </p:cNvPr>
          <p:cNvSpPr/>
          <p:nvPr/>
        </p:nvSpPr>
        <p:spPr>
          <a:xfrm rot="10800000">
            <a:off x="-2237" y="590270"/>
            <a:ext cx="12190368" cy="80607"/>
          </a:xfrm>
          <a:prstGeom prst="rect">
            <a:avLst/>
          </a:prstGeom>
          <a:solidFill>
            <a:srgbClr val="0F6A7B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2" name="shell_图片 1">
            <a:extLst>
              <a:ext uri="{FF2B5EF4-FFF2-40B4-BE49-F238E27FC236}">
                <a16:creationId xmlns:a16="http://schemas.microsoft.com/office/drawing/2014/main" id="{B618D828-0A56-3F44-B1BE-E018E2F42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02" y="88467"/>
            <a:ext cx="1440626" cy="461411"/>
          </a:xfrm>
          <a:prstGeom prst="rect">
            <a:avLst/>
          </a:prstGeom>
        </p:spPr>
      </p:pic>
      <p:sp>
        <p:nvSpPr>
          <p:cNvPr id="7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10" name="nav_2"/>
          <p:cNvSpPr/>
          <p:nvPr/>
        </p:nvSpPr>
        <p:spPr>
          <a:xfrm>
            <a:off x="2816352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11" name="nav_3"/>
          <p:cNvSpPr/>
          <p:nvPr/>
        </p:nvSpPr>
        <p:spPr>
          <a:xfrm>
            <a:off x="5038344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12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13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148840"/>
            <a:ext cx="23774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0">
                <a:solidFill>
                  <a:srgbClr val="AAC6CA"/>
                </a:solidFill>
                <a:latin typeface="Segoe UI Light"/>
                <a:ea typeface="微软雅黑 Light"/>
                <a:cs typeface="Segoe UI Ligh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14600"/>
            <a:ext cx="71323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611880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AAC6CA"/>
                </a:solidFill>
                <a:latin typeface="Arial"/>
                <a:ea typeface="微软雅黑"/>
                <a:cs typeface="Arial"/>
              </a:rPr>
              <a:t>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80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83" name="nav_2"/>
          <p:cNvSpPr/>
          <p:nvPr/>
        </p:nvSpPr>
        <p:spPr>
          <a:xfrm>
            <a:off x="2816352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84" name="nav_3"/>
          <p:cNvSpPr/>
          <p:nvPr/>
        </p:nvSpPr>
        <p:spPr>
          <a:xfrm>
            <a:off x="5038344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85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86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822960"/>
            <a:ext cx="10927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Table 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EN-DE 上 base 模型已超过此前全部结果（含集成）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CF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640080" y="2455164"/>
          <a:ext cx="1092708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770"/>
                <a:gridCol w="2731770"/>
                <a:gridCol w="2731770"/>
                <a:gridCol w="2731770"/>
              </a:tblGrid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模型</a:t>
                      </a:r>
                    </a:p>
                  </a:txBody>
                  <a:tcPr marL="109728" marR="109728" marT="36576" marB="36576" anchor="ctr">
                    <a:solidFill>
                      <a:srgbClr val="0F6A7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EN-DE BLEU</a:t>
                      </a:r>
                    </a:p>
                  </a:txBody>
                  <a:tcPr marL="109728" marR="109728" marT="36576" marB="36576" anchor="ctr">
                    <a:solidFill>
                      <a:srgbClr val="0F6A7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EN-FR BLEU</a:t>
                      </a:r>
                    </a:p>
                  </a:txBody>
                  <a:tcPr marL="109728" marR="109728" marT="36576" marB="36576" anchor="ctr">
                    <a:solidFill>
                      <a:srgbClr val="0F6A7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训练成本 EN-DE (FLOPs)</a:t>
                      </a:r>
                    </a:p>
                  </a:txBody>
                  <a:tcPr marL="109728" marR="109728" marT="36576" marB="36576" anchor="ctr">
                    <a:solidFill>
                      <a:srgbClr val="0F6A7B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GNMT + RL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24.6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39.92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2.3×10¹⁹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ConvS2S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25.16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40.46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9.6×10¹⁸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ConvS2S 集成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26.36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41.29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7.7×10¹⁹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Transformer base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27.3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38.1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3.3×10¹⁸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Transformer big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28.4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41.0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23232"/>
                          </a:solidFill>
                          <a:latin typeface="Arial"/>
                          <a:ea typeface="微软雅黑"/>
                          <a:cs typeface="Arial"/>
                        </a:rPr>
                        <a:t>2.3×10¹⁹</a:t>
                      </a:r>
                    </a:p>
                  </a:txBody>
                  <a:tcPr marL="109728" marR="109728" marT="36576" marB="36576" anchor="ctr"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640080" y="6419088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来源：Vaswani et al., 2017, Table 2（newstest2014）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80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83" name="nav_2"/>
          <p:cNvSpPr/>
          <p:nvPr/>
        </p:nvSpPr>
        <p:spPr>
          <a:xfrm>
            <a:off x="2816352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84" name="nav_3"/>
          <p:cNvSpPr/>
          <p:nvPr/>
        </p:nvSpPr>
        <p:spPr>
          <a:xfrm>
            <a:off x="5038344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85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86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头数不是越多越好：单头掉 0.9 BLEU，32 头也下降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CF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40080" y="1783080"/>
            <a:ext cx="10927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0F6A7B"/>
                </a:solidFill>
                <a:latin typeface="Arial"/>
                <a:ea typeface="微软雅黑"/>
                <a:cs typeface="Arial"/>
              </a:rPr>
              <a:t>固定总计算量，只改变头数 h 与每头维度 d_k = d_v。</a:t>
            </a:r>
          </a:p>
        </p:txBody>
      </p:sp>
      <p:graphicFrame>
        <p:nvGraphicFramePr>
          <p:cNvPr id="90" name="Chart 89"/>
          <p:cNvGraphicFramePr>
            <a:graphicFrameLocks noGrp="1"/>
          </p:cNvGraphicFramePr>
          <p:nvPr/>
        </p:nvGraphicFramePr>
        <p:xfrm>
          <a:off x="640080" y="2670048"/>
          <a:ext cx="10927080" cy="3639312"/>
        </p:xfrm>
        <a:graphic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640080" y="6419088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来源：Vaswani et al., 2017, Table 3 (A)；开发集，未做检查点平均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80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83" name="nav_2"/>
          <p:cNvSpPr/>
          <p:nvPr/>
        </p:nvSpPr>
        <p:spPr>
          <a:xfrm>
            <a:off x="2816352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84" name="nav_3"/>
          <p:cNvSpPr/>
          <p:nvPr/>
        </p:nvSpPr>
        <p:spPr>
          <a:xfrm>
            <a:off x="5038344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85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86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822960"/>
            <a:ext cx="10927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Table 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消融：减层、去 dropout 掉得最多，大模型 +0.6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CF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40080" y="1783080"/>
            <a:ext cx="10927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0F6A7B"/>
                </a:solidFill>
                <a:latin typeface="Arial"/>
                <a:ea typeface="微软雅黑"/>
                <a:cs typeface="Arial"/>
              </a:rPr>
              <a:t>各变体相对 base（25.8 BLEU）的变化，newstest2013 开发集。</a:t>
            </a:r>
          </a:p>
        </p:txBody>
      </p:sp>
      <p:graphicFrame>
        <p:nvGraphicFramePr>
          <p:cNvPr id="91" name="Chart 90"/>
          <p:cNvGraphicFramePr>
            <a:graphicFrameLocks noGrp="1"/>
          </p:cNvGraphicFramePr>
          <p:nvPr/>
        </p:nvGraphicFramePr>
        <p:xfrm>
          <a:off x="640080" y="2670048"/>
          <a:ext cx="10927080" cy="3639312"/>
        </p:xfrm>
        <a:graphic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640080" y="6419088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来源：Vaswani et al., 2017, Table 3 (B)(C)(D)(E) 与 big 行；单次运行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hell_矩形 4">
            <a:extLst>
              <a:ext uri="{FF2B5EF4-FFF2-40B4-BE49-F238E27FC236}">
                <a16:creationId xmlns:a16="http://schemas.microsoft.com/office/drawing/2014/main" id="{AA8E890F-5AED-CE85-F761-1C758BB5ACAF}"/>
              </a:ext>
            </a:extLst>
          </p:cNvPr>
          <p:cNvSpPr/>
          <p:nvPr/>
        </p:nvSpPr>
        <p:spPr>
          <a:xfrm>
            <a:off x="-2237" y="62363"/>
            <a:ext cx="12183110" cy="5973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04800" dist="38100" dir="5400000" algn="t" rotWithShape="0">
              <a:sysClr val="windowText" lastClr="000000">
                <a:lumMod val="50000"/>
                <a:lumOff val="50000"/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shell_矩形 5">
            <a:extLst>
              <a:ext uri="{FF2B5EF4-FFF2-40B4-BE49-F238E27FC236}">
                <a16:creationId xmlns:a16="http://schemas.microsoft.com/office/drawing/2014/main" id="{923162C7-1E9E-68AA-36D8-5E06D4AB4DE8}"/>
              </a:ext>
            </a:extLst>
          </p:cNvPr>
          <p:cNvSpPr/>
          <p:nvPr/>
        </p:nvSpPr>
        <p:spPr>
          <a:xfrm rot="10800000">
            <a:off x="-2237" y="590270"/>
            <a:ext cx="12190368" cy="80607"/>
          </a:xfrm>
          <a:prstGeom prst="rect">
            <a:avLst/>
          </a:prstGeom>
          <a:solidFill>
            <a:srgbClr val="0F6A7B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2" name="shell_图片 1">
            <a:extLst>
              <a:ext uri="{FF2B5EF4-FFF2-40B4-BE49-F238E27FC236}">
                <a16:creationId xmlns:a16="http://schemas.microsoft.com/office/drawing/2014/main" id="{B618D828-0A56-3F44-B1BE-E018E2F42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02" y="88467"/>
            <a:ext cx="1440626" cy="461411"/>
          </a:xfrm>
          <a:prstGeom prst="rect">
            <a:avLst/>
          </a:prstGeom>
        </p:spPr>
      </p:pic>
      <p:sp>
        <p:nvSpPr>
          <p:cNvPr id="7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10" name="nav_2"/>
          <p:cNvSpPr/>
          <p:nvPr/>
        </p:nvSpPr>
        <p:spPr>
          <a:xfrm>
            <a:off x="2816352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11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12" name="nav_4"/>
          <p:cNvSpPr/>
          <p:nvPr/>
        </p:nvSpPr>
        <p:spPr>
          <a:xfrm>
            <a:off x="7260336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13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148840"/>
            <a:ext cx="23774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0">
                <a:solidFill>
                  <a:srgbClr val="AAC6CA"/>
                </a:solidFill>
                <a:latin typeface="Segoe UI Light"/>
                <a:ea typeface="微软雅黑 Light"/>
                <a:cs typeface="Segoe UI Light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14600"/>
            <a:ext cx="71323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611880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AAC6CA"/>
                </a:solidFill>
                <a:latin typeface="Arial"/>
                <a:ea typeface="微软雅黑"/>
                <a:cs typeface="Arial"/>
              </a:rPr>
              <a:t>Reproduction &amp; Critique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80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83" name="nav_2"/>
          <p:cNvSpPr/>
          <p:nvPr/>
        </p:nvSpPr>
        <p:spPr>
          <a:xfrm>
            <a:off x="2816352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84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85" name="nav_4"/>
          <p:cNvSpPr/>
          <p:nvPr/>
        </p:nvSpPr>
        <p:spPr>
          <a:xfrm>
            <a:off x="7260336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86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822960"/>
            <a:ext cx="10927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GitHub 复现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第三方复现：Multi30K 英德上 26.4 BLEU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CF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kpi_1"/>
          <p:cNvSpPr/>
          <p:nvPr/>
        </p:nvSpPr>
        <p:spPr>
          <a:xfrm>
            <a:off x="640080" y="2766060"/>
            <a:ext cx="3398520" cy="2560320"/>
          </a:xfrm>
          <a:prstGeom prst="roundRect">
            <a:avLst>
              <a:gd name="adj" fmla="val 5000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8680" y="2967228"/>
            <a:ext cx="2941320" cy="11777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0">
                <a:solidFill>
                  <a:srgbClr val="0F6A7B"/>
                </a:solidFill>
                <a:latin typeface="Segoe UI Light"/>
                <a:ea typeface="微软雅黑 Light"/>
                <a:cs typeface="Segoe UI Light"/>
              </a:rPr>
              <a:t>26.4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8680" y="4199839"/>
            <a:ext cx="2941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BLEU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Multi30K EN-DE，README 报告值</a:t>
            </a:r>
          </a:p>
        </p:txBody>
      </p:sp>
      <p:sp>
        <p:nvSpPr>
          <p:cNvPr id="93" name="kpi_2"/>
          <p:cNvSpPr/>
          <p:nvPr/>
        </p:nvSpPr>
        <p:spPr>
          <a:xfrm>
            <a:off x="4404360" y="2766060"/>
            <a:ext cx="3398520" cy="2560320"/>
          </a:xfrm>
          <a:prstGeom prst="roundRect">
            <a:avLst>
              <a:gd name="adj" fmla="val 5000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32960" y="2967228"/>
            <a:ext cx="2941320" cy="11777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0">
                <a:solidFill>
                  <a:srgbClr val="0F6A7B"/>
                </a:solidFill>
                <a:latin typeface="Segoe UI Light"/>
                <a:ea typeface="微软雅黑 Light"/>
                <a:cs typeface="Segoe UI Light"/>
              </a:rPr>
              <a:t>55.2M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32960" y="4199839"/>
            <a:ext cx="2941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参数量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 base 约 65M</a:t>
            </a:r>
          </a:p>
        </p:txBody>
      </p:sp>
      <p:sp>
        <p:nvSpPr>
          <p:cNvPr id="96" name="kpi_3"/>
          <p:cNvSpPr/>
          <p:nvPr/>
        </p:nvSpPr>
        <p:spPr>
          <a:xfrm>
            <a:off x="8168640" y="2766060"/>
            <a:ext cx="3398520" cy="2560320"/>
          </a:xfrm>
          <a:prstGeom prst="roundRect">
            <a:avLst>
              <a:gd name="adj" fmla="val 5000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97240" y="2967228"/>
            <a:ext cx="2941320" cy="11777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0">
                <a:solidFill>
                  <a:srgbClr val="0F6A7B"/>
                </a:solidFill>
                <a:latin typeface="Segoe UI Light"/>
                <a:ea typeface="微软雅黑 Light"/>
                <a:cs typeface="Segoe UI Light"/>
              </a:rPr>
              <a:t>3.20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97240" y="4199839"/>
            <a:ext cx="2941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最低验证损失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最低训练损失 2.85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" y="6419088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来源：github.com/hyunwoongko/transformer（README）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80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83" name="nav_2"/>
          <p:cNvSpPr/>
          <p:nvPr/>
        </p:nvSpPr>
        <p:spPr>
          <a:xfrm>
            <a:off x="2816352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84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85" name="nav_4"/>
          <p:cNvSpPr/>
          <p:nvPr/>
        </p:nvSpPr>
        <p:spPr>
          <a:xfrm>
            <a:off x="7260336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86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26.4 与论文 27.3 不能直接比：数据和口径都不同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CF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cmp_1"/>
          <p:cNvSpPr/>
          <p:nvPr/>
        </p:nvSpPr>
        <p:spPr>
          <a:xfrm>
            <a:off x="640080" y="2765237"/>
            <a:ext cx="5280660" cy="2561966"/>
          </a:xfrm>
          <a:prstGeom prst="roundRect">
            <a:avLst>
              <a:gd name="adj" fmla="val 4000"/>
            </a:avLst>
          </a:prstGeom>
          <a:solidFill>
            <a:srgbClr val="F7FAFA"/>
          </a:solidFill>
          <a:ln w="12700">
            <a:solidFill>
              <a:srgbClr val="CF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40080" y="2765237"/>
            <a:ext cx="5280660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6112" y="3021269"/>
            <a:ext cx="47685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F6A7B"/>
                </a:solidFill>
                <a:latin typeface="Arial"/>
                <a:ea typeface="微软雅黑"/>
                <a:cs typeface="Arial"/>
              </a:rPr>
              <a:t>论文 base（Table 2）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6112" y="3606485"/>
            <a:ext cx="4768596" cy="1601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· WMT14 英德，约 450 万句对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· BPE 共享词表，约 3.7 万词元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· newstest2014 测试，beam 4 + 检查点平均</a:t>
            </a:r>
          </a:p>
        </p:txBody>
      </p:sp>
      <p:sp>
        <p:nvSpPr>
          <p:cNvPr id="93" name="cmp_2"/>
          <p:cNvSpPr/>
          <p:nvPr/>
        </p:nvSpPr>
        <p:spPr>
          <a:xfrm>
            <a:off x="6286500" y="2765237"/>
            <a:ext cx="5280660" cy="2561966"/>
          </a:xfrm>
          <a:prstGeom prst="roundRect">
            <a:avLst>
              <a:gd name="adj" fmla="val 4000"/>
            </a:avLst>
          </a:prstGeom>
          <a:solidFill>
            <a:srgbClr val="F7FAFA"/>
          </a:solidFill>
          <a:ln w="12700">
            <a:solidFill>
              <a:srgbClr val="CF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286500" y="2765237"/>
            <a:ext cx="5280660" cy="82296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42532" y="3021269"/>
            <a:ext cx="47685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B4762A"/>
                </a:solidFill>
                <a:latin typeface="Arial"/>
                <a:ea typeface="微软雅黑"/>
                <a:cs typeface="Arial"/>
              </a:rPr>
              <a:t>第三方复现（Multi30K）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42532" y="3606485"/>
            <a:ext cx="4768596" cy="1601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· Multi30K 图像描述，约 2.9 万句对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· README 未说明分词和 BLEU 计算工具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· 只报告一次结果，没有方差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0080" y="6419088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来源：原文 §5–6；hyunwoongko/transformer；Elliott et al., 2016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80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83" name="nav_2"/>
          <p:cNvSpPr/>
          <p:nvPr/>
        </p:nvSpPr>
        <p:spPr>
          <a:xfrm>
            <a:off x="2816352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84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85" name="nav_4"/>
          <p:cNvSpPr/>
          <p:nvPr/>
        </p:nvSpPr>
        <p:spPr>
          <a:xfrm>
            <a:off x="7260336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86" name="nav_5"/>
          <p:cNvSpPr/>
          <p:nvPr/>
        </p:nvSpPr>
        <p:spPr>
          <a:xfrm>
            <a:off x="9482328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我的评价：机制论证扎实，但证据范围有限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CF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40080" y="2798674"/>
            <a:ext cx="52349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F6A7B"/>
                </a:solidFill>
                <a:latin typeface="Arial"/>
                <a:ea typeface="微软雅黑"/>
                <a:cs typeface="Arial"/>
              </a:rPr>
              <a:t>可信的部分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40080" y="3274162"/>
            <a:ext cx="5234940" cy="0"/>
          </a:xfrm>
          <a:prstGeom prst="line">
            <a:avLst/>
          </a:prstGeom>
          <a:ln w="22225">
            <a:solidFill>
              <a:srgbClr val="0F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40080" y="3457042"/>
            <a:ext cx="5234940" cy="28523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复杂度与路径长度分析，和消融结果相互印证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主表同时给出 BLEU 与训练成本，比较较全面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代码开源（tensor2tensor），第三方能独立复现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32220" y="2798674"/>
            <a:ext cx="52349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F6A7B"/>
                </a:solidFill>
                <a:latin typeface="Arial"/>
                <a:ea typeface="微软雅黑"/>
                <a:cs typeface="Arial"/>
              </a:rPr>
              <a:t>需要保留的地方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332220" y="3274162"/>
            <a:ext cx="5234940" cy="0"/>
          </a:xfrm>
          <a:prstGeom prst="line">
            <a:avLst/>
          </a:prstGeom>
          <a:ln w="22225">
            <a:solidFill>
              <a:srgbClr val="0F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332220" y="3457042"/>
            <a:ext cx="5234940" cy="28523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只在机器翻译上验证，任务类型单一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没有多次运行的方差，0.1–0.3 的差距难判断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长序列的 O(n²) 代价只做了分析，没有实测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6419088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来源：Vaswani et al., 2017, §4, §6–7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hell_矩形 4">
            <a:extLst>
              <a:ext uri="{FF2B5EF4-FFF2-40B4-BE49-F238E27FC236}">
                <a16:creationId xmlns:a16="http://schemas.microsoft.com/office/drawing/2014/main" id="{AA8E890F-5AED-CE85-F761-1C758BB5ACAF}"/>
              </a:ext>
            </a:extLst>
          </p:cNvPr>
          <p:cNvSpPr/>
          <p:nvPr/>
        </p:nvSpPr>
        <p:spPr>
          <a:xfrm>
            <a:off x="-2237" y="62363"/>
            <a:ext cx="12183110" cy="5973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04800" dist="38100" dir="5400000" algn="t" rotWithShape="0">
              <a:sysClr val="windowText" lastClr="000000">
                <a:lumMod val="50000"/>
                <a:lumOff val="50000"/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shell_矩形 5">
            <a:extLst>
              <a:ext uri="{FF2B5EF4-FFF2-40B4-BE49-F238E27FC236}">
                <a16:creationId xmlns:a16="http://schemas.microsoft.com/office/drawing/2014/main" id="{923162C7-1E9E-68AA-36D8-5E06D4AB4DE8}"/>
              </a:ext>
            </a:extLst>
          </p:cNvPr>
          <p:cNvSpPr/>
          <p:nvPr/>
        </p:nvSpPr>
        <p:spPr>
          <a:xfrm rot="10800000">
            <a:off x="-2237" y="590270"/>
            <a:ext cx="12190368" cy="80607"/>
          </a:xfrm>
          <a:prstGeom prst="rect">
            <a:avLst/>
          </a:prstGeom>
          <a:solidFill>
            <a:srgbClr val="0F6A7B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2" name="shell_图片 1">
            <a:extLst>
              <a:ext uri="{FF2B5EF4-FFF2-40B4-BE49-F238E27FC236}">
                <a16:creationId xmlns:a16="http://schemas.microsoft.com/office/drawing/2014/main" id="{B618D828-0A56-3F44-B1BE-E018E2F42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02" y="88467"/>
            <a:ext cx="1440626" cy="461411"/>
          </a:xfrm>
          <a:prstGeom prst="rect">
            <a:avLst/>
          </a:prstGeom>
        </p:spPr>
      </p:pic>
      <p:sp>
        <p:nvSpPr>
          <p:cNvPr id="7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10" name="nav_2"/>
          <p:cNvSpPr/>
          <p:nvPr/>
        </p:nvSpPr>
        <p:spPr>
          <a:xfrm>
            <a:off x="2816352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11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12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13" name="nav_5"/>
          <p:cNvSpPr/>
          <p:nvPr/>
        </p:nvSpPr>
        <p:spPr>
          <a:xfrm>
            <a:off x="9482328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148840"/>
            <a:ext cx="23774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0">
                <a:solidFill>
                  <a:srgbClr val="AAC6CA"/>
                </a:solidFill>
                <a:latin typeface="Segoe UI Light"/>
                <a:ea typeface="微软雅黑 Light"/>
                <a:cs typeface="Segoe UI Light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14600"/>
            <a:ext cx="71323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611880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AAC6CA"/>
                </a:solidFill>
                <a:latin typeface="Arial"/>
                <a:ea typeface="微软雅黑"/>
                <a:cs typeface="Arial"/>
              </a:rPr>
              <a:t>Takeaways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80" name="nav_bar"/>
          <p:cNvSpPr/>
          <p:nvPr/>
        </p:nvSpPr>
        <p:spPr>
          <a:xfrm>
            <a:off x="0" y="128016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nav_rule"/>
          <p:cNvSpPr/>
          <p:nvPr/>
        </p:nvSpPr>
        <p:spPr>
          <a:xfrm>
            <a:off x="0" y="576072"/>
            <a:ext cx="12191695" cy="82296"/>
          </a:xfrm>
          <a:prstGeom prst="rect">
            <a:avLst/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nav_1"/>
          <p:cNvSpPr/>
          <p:nvPr/>
        </p:nvSpPr>
        <p:spPr>
          <a:xfrm>
            <a:off x="594360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83" name="nav_2"/>
          <p:cNvSpPr/>
          <p:nvPr/>
        </p:nvSpPr>
        <p:spPr>
          <a:xfrm>
            <a:off x="2816352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84" name="nav_3"/>
          <p:cNvSpPr/>
          <p:nvPr/>
        </p:nvSpPr>
        <p:spPr>
          <a:xfrm>
            <a:off x="5038344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85" name="nav_4"/>
          <p:cNvSpPr/>
          <p:nvPr/>
        </p:nvSpPr>
        <p:spPr>
          <a:xfrm>
            <a:off x="7260336" y="73152"/>
            <a:ext cx="2130552" cy="585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86" name="nav_5"/>
          <p:cNvSpPr/>
          <p:nvPr/>
        </p:nvSpPr>
        <p:spPr>
          <a:xfrm>
            <a:off x="9482328" y="73152"/>
            <a:ext cx="2130552" cy="585216"/>
          </a:xfrm>
          <a:prstGeom prst="roundRect">
            <a:avLst>
              <a:gd name="adj" fmla="val 14000"/>
            </a:avLst>
          </a:prstGeom>
          <a:solidFill>
            <a:srgbClr val="0F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822960"/>
            <a:ext cx="10927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E7A7C"/>
                </a:solidFill>
                <a:latin typeface="Arial"/>
                <a:ea typeface="微软雅黑"/>
                <a:cs typeface="Arial"/>
              </a:rPr>
              <a:t>启发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1005840"/>
            <a:ext cx="10927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读论文先看消融表，做复现先对齐评测口径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40080" y="1645920"/>
            <a:ext cx="10927080" cy="0"/>
          </a:xfrm>
          <a:prstGeom prst="line">
            <a:avLst/>
          </a:prstGeom>
          <a:ln w="15875">
            <a:solidFill>
              <a:srgbClr val="CF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40080" y="2185416"/>
            <a:ext cx="10927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0F6A7B"/>
                </a:solidFill>
                <a:latin typeface="Arial"/>
                <a:ea typeface="微软雅黑"/>
                <a:cs typeface="Arial"/>
              </a:rPr>
              <a:t>复现结果和论文数字比较前，先确认数据、分词、解码和评测工具一致。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3072384"/>
            <a:ext cx="10927080" cy="3236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复现前列清数据集、分词、解码设置与 BLEU 工具，缺一项就无法比较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消融表告诉我们哪些超参敏感，调参优先级按它来排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输入变长时注意 O(n²) 显存，必要时考虑受限或稀疏注意力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323232"/>
                </a:solidFill>
                <a:latin typeface="Arial"/>
                <a:ea typeface="微软雅黑"/>
                <a:cs typeface="Arial"/>
              </a:rPr>
              <a:t>▪ 报告自己的结果时，至少跑 3 个随机种子并给出方差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hell_矩形 4">
            <a:extLst>
              <a:ext uri="{FF2B5EF4-FFF2-40B4-BE49-F238E27FC236}">
                <a16:creationId xmlns:a16="http://schemas.microsoft.com/office/drawing/2014/main" id="{AA8E890F-5AED-CE85-F761-1C758BB5ACAF}"/>
              </a:ext>
            </a:extLst>
          </p:cNvPr>
          <p:cNvSpPr/>
          <p:nvPr/>
        </p:nvSpPr>
        <p:spPr>
          <a:xfrm>
            <a:off x="-2237" y="62363"/>
            <a:ext cx="12183110" cy="5973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04800" dist="38100" dir="5400000" algn="t" rotWithShape="0">
              <a:sysClr val="windowText" lastClr="000000">
                <a:lumMod val="50000"/>
                <a:lumOff val="50000"/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shell_矩形 5">
            <a:extLst>
              <a:ext uri="{FF2B5EF4-FFF2-40B4-BE49-F238E27FC236}">
                <a16:creationId xmlns:a16="http://schemas.microsoft.com/office/drawing/2014/main" id="{923162C7-1E9E-68AA-36D8-5E06D4AB4DE8}"/>
              </a:ext>
            </a:extLst>
          </p:cNvPr>
          <p:cNvSpPr/>
          <p:nvPr/>
        </p:nvSpPr>
        <p:spPr>
          <a:xfrm rot="10800000">
            <a:off x="-2237" y="590270"/>
            <a:ext cx="12190368" cy="80607"/>
          </a:xfrm>
          <a:prstGeom prst="rect">
            <a:avLst/>
          </a:prstGeom>
          <a:solidFill>
            <a:srgbClr val="0F6A7B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2" name="shell_图片 1">
            <a:extLst>
              <a:ext uri="{FF2B5EF4-FFF2-40B4-BE49-F238E27FC236}">
                <a16:creationId xmlns:a16="http://schemas.microsoft.com/office/drawing/2014/main" id="{B618D828-0A56-3F44-B1BE-E018E2F42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02" y="88467"/>
            <a:ext cx="1440626" cy="4614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2651760"/>
            <a:ext cx="9235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800" b="0">
                <a:solidFill>
                  <a:srgbClr val="FFFFFF"/>
                </a:solidFill>
                <a:latin typeface="Segoe UI Light"/>
                <a:ea typeface="微软雅黑 Light"/>
                <a:cs typeface="Segoe UI Light"/>
              </a:rPr>
              <a:t>谢谢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35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AAC6CA"/>
                </a:solidFill>
                <a:latin typeface="Arial"/>
                <a:ea typeface="微软雅黑"/>
                <a:cs typeface="Arial"/>
              </a:rPr>
              <a:t>欢迎提问与讨论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1 https://12sc.taobao.com">
  <a:themeElements>
    <a:clrScheme name="">
      <a:dk1>
        <a:srgbClr val="004C54"/>
      </a:dk1>
      <a:lt1>
        <a:srgbClr val="009EB0"/>
      </a:lt1>
      <a:dk2>
        <a:srgbClr val="DDDDDD"/>
      </a:dk2>
      <a:lt2>
        <a:srgbClr val="808080"/>
      </a:lt2>
      <a:accent1>
        <a:srgbClr val="292929"/>
      </a:accent1>
      <a:accent2>
        <a:srgbClr val="FFFFFF"/>
      </a:accent2>
      <a:accent3>
        <a:srgbClr val="AACCD4"/>
      </a:accent3>
      <a:accent4>
        <a:srgbClr val="004046"/>
      </a:accent4>
      <a:accent5>
        <a:srgbClr val="ACACAC"/>
      </a:accent5>
      <a:accent6>
        <a:srgbClr val="E7E7E7"/>
      </a:accent6>
      <a:hlink>
        <a:srgbClr val="B3B3B3"/>
      </a:hlink>
      <a:folHlink>
        <a:srgbClr val="404040"/>
      </a:folHlink>
    </a:clrScheme>
    <a:fontScheme name="2_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2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445</Words>
  <Application>Microsoft Office PowerPoint</Application>
  <PresentationFormat>宽屏</PresentationFormat>
  <Paragraphs>133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等线 Light</vt:lpstr>
      <vt:lpstr>宋体</vt:lpstr>
      <vt:lpstr>微软雅黑</vt:lpstr>
      <vt:lpstr>Arial</vt:lpstr>
      <vt:lpstr>Impact</vt:lpstr>
      <vt:lpstr>Office 主题​​</vt:lpstr>
      <vt:lpstr>清风素材1 https://12sc.taobao.com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 论文精读</dc:title>
  <dc:creator>张同学</dc:creator>
  <cp:lastModifiedBy>张同学</cp:lastModifiedBy>
  <cp:revision>1</cp:revision>
  <dcterms:created xsi:type="dcterms:W3CDTF">2026-09-23T12:01:15Z</dcterms:created>
  <dcterms:modified xsi:type="dcterms:W3CDTF">2026-09-23T12:01:15Z</dcterms:modified>
  <dc:subject>Vaswani et al., NIPS 2017</dc:subject>
  <cp:keywords>暨南大学, 学术汇报, 组会, 答辩</cp:keywords>
  <dc:description/>
  <cp:category/>
</cp:coreProperties>
</file>