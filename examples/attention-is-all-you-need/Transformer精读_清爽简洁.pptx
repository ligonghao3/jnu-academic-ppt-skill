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8" r:id="rId8"/>
    <p:sldId id="269" r:id="rId7"/>
    <p:sldId id="270" r:id="rId6"/>
    <p:sldId id="271" r:id="rId5"/>
    <p:sldId id="272" r:id="rId4"/>
    <p:sldId id="273" r:id="rId3"/>
    <p:sldId id="274" r:id="rId2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5658"/>
    <a:srgbClr val="FEE492"/>
    <a:srgbClr val="F0CA69"/>
    <a:srgbClr val="D6A243"/>
    <a:srgbClr val="1879C7"/>
    <a:srgbClr val="1A72C5"/>
    <a:srgbClr val="94A9CC"/>
    <a:srgbClr val="2350BA"/>
    <a:srgbClr val="95A9C8"/>
    <a:srgbClr val="F7D5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2803" autoAdjust="0"/>
    <p:restoredTop sz="94660"/>
  </p:normalViewPr>
  <p:slideViewPr>
    <p:cSldViewPr snapToGrid="0">
      <p:cViewPr>
        <p:scale>
          <a:sx n="125" d="100"/>
          <a:sy n="125" d="100"/>
        </p:scale>
        <p:origin x="-868" y="-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BLEU</c:v>
                </c:pt>
              </c:strCache>
            </c:strRef>
          </c:tx>
          <c:spPr>
            <a:solidFill>
              <a:srgbClr val="1D3F69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h = 1</c:v>
                </c:pt>
                <c:pt idx="1">
                  <c:v>h = 4</c:v>
                </c:pt>
                <c:pt idx="2">
                  <c:v>h = 8（base）</c:v>
                </c:pt>
                <c:pt idx="3">
                  <c:v>h = 16</c:v>
                </c:pt>
                <c:pt idx="4">
                  <c:v>h = 32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24.9</c:v>
                </c:pt>
                <c:pt idx="1">
                  <c:v>25.5</c:v>
                </c:pt>
                <c:pt idx="2">
                  <c:v>25.8</c:v>
                </c:pt>
                <c:pt idx="3">
                  <c:v>25.8</c:v>
                </c:pt>
                <c:pt idx="4">
                  <c:v>25.4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1D3F6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5B6B82"/>
                    </a:solidFill>
                  </a:rPr>
                  <a:t>注意力头数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CCEE6"/>
            </a:solidFill>
          </a:ln>
        </c:spPr>
        <c:txPr>
          <a:bodyPr/>
          <a:lstStyle/>
          <a:p>
            <a:pPr>
              <a:defRPr sz="1100">
                <a:solidFill>
                  <a:srgbClr val="5B6B82"/>
                </a:solidFill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26.0"/>
          <c:min val="24.5"/>
        </c:scaling>
        <c:delete val="0"/>
        <c:axPos val="l"/>
        <c:majorGridlines>
          <c:spPr>
            <a:ln w="9525">
              <a:solidFill>
                <a:srgbClr val="BCCE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5B6B82"/>
                    </a:solidFill>
                  </a:rPr>
                  <a:t>BLEU（newstest2013 开发集）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solidFill>
              <a:srgbClr val="BCCEE6"/>
            </a:solidFill>
          </a:ln>
        </c:spPr>
        <c:txPr>
          <a:bodyPr/>
          <a:lstStyle/>
          <a:p>
            <a:pPr>
              <a:defRPr sz="1100">
                <a:solidFill>
                  <a:srgbClr val="5B6B82"/>
                </a:solidFill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B82"/>
          </a:solidFill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相对 base 的 BLEU 变化</c:v>
                </c:pt>
              </c:strCache>
            </c:strRef>
          </c:tx>
          <c:spPr>
            <a:solidFill>
              <a:srgbClr val="1D3F69"/>
            </a:solidFill>
          </c:spPr>
          <c:invertIfNegative val="0"/>
          <c:dPt>
            <c:idx val="0"/>
            <c:invertIfNegative val="0"/>
            <c:spPr>
              <a:solidFill>
                <a:srgbClr val="2F7D5B"/>
              </a:solidFill>
            </c:spPr>
          </c:dPt>
          <c:dPt>
            <c:idx val="1"/>
            <c:invertIfNegative val="0"/>
            <c:spPr>
              <a:solidFill>
                <a:srgbClr val="A8443C"/>
              </a:solidFill>
            </c:spPr>
          </c:dPt>
          <c:dPt>
            <c:idx val="2"/>
            <c:invertIfNegative val="0"/>
            <c:spPr>
              <a:solidFill>
                <a:srgbClr val="A8443C"/>
              </a:solidFill>
            </c:spPr>
          </c:dPt>
          <c:dPt>
            <c:idx val="3"/>
            <c:invertIfNegative val="0"/>
            <c:spPr>
              <a:solidFill>
                <a:srgbClr val="A8443C"/>
              </a:solidFill>
            </c:spPr>
          </c:dPt>
          <c:dPt>
            <c:idx val="4"/>
            <c:invertIfNegative val="0"/>
            <c:spPr>
              <a:solidFill>
                <a:srgbClr val="A8443C"/>
              </a:solidFill>
            </c:spPr>
          </c:dPt>
          <c:dPt>
            <c:idx val="5"/>
            <c:invertIfNegative val="0"/>
            <c:spPr>
              <a:solidFill>
                <a:srgbClr val="A8443C"/>
              </a:solidFill>
            </c:spPr>
          </c:dPt>
          <c:cat>
            <c:strRef>
              <c:f>Sheet1!$A$2:$A$7</c:f>
              <c:strCache>
                <c:ptCount val="6"/>
                <c:pt idx="0">
                  <c:v>big 模型（213M 参数）</c:v>
                </c:pt>
                <c:pt idx="1">
                  <c:v>可学习位置嵌入</c:v>
                </c:pt>
                <c:pt idx="2">
                  <c:v>去掉标签平滑</c:v>
                </c:pt>
                <c:pt idx="3">
                  <c:v>d_k 64 → 16</c:v>
                </c:pt>
                <c:pt idx="4">
                  <c:v>去掉 dropout</c:v>
                </c:pt>
                <c:pt idx="5">
                  <c:v>层数 6 → 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</c:v>
                </c:pt>
                <c:pt idx="1">
                  <c:v>-0.1</c:v>
                </c:pt>
                <c:pt idx="2">
                  <c:v>-0.5</c:v>
                </c:pt>
                <c:pt idx="3">
                  <c:v>-0.7</c:v>
                </c:pt>
                <c:pt idx="4">
                  <c:v>-1.2</c:v>
                </c:pt>
                <c:pt idx="5">
                  <c:v>-2.1</c:v>
                </c:pt>
              </c:numCache>
            </c:numRef>
          </c:val>
        </c:ser>
        <c:dLbls>
          <c:numFmt formatCode="+0.0;-0.0;0.0" sourceLinked="0"/>
          <c:txPr>
            <a:bodyPr/>
            <a:lstStyle/>
            <a:p>
              <a:pPr>
                <a:defRPr sz="1100">
                  <a:solidFill>
                    <a:srgbClr val="1D3F6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BCCEE6"/>
            </a:solidFill>
          </a:ln>
        </c:spPr>
        <c:txPr>
          <a:bodyPr/>
          <a:lstStyle/>
          <a:p>
            <a:pPr>
              <a:defRPr sz="1100">
                <a:solidFill>
                  <a:srgbClr val="5B6B82"/>
                </a:solidFill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1.0"/>
          <c:min val="-2.5"/>
        </c:scaling>
        <c:delete val="0"/>
        <c:axPos val="b"/>
        <c:majorGridlines>
          <c:spPr>
            <a:ln w="9525">
              <a:solidFill>
                <a:srgbClr val="BCCEE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5B6B82"/>
                    </a:solidFill>
                  </a:rPr>
                  <a:t>相对 base 的 BLEU 变化</a:t>
                </a:r>
              </a:p>
            </c:rich>
          </c:tx>
          <c:layout/>
          <c:overlay val="0"/>
        </c:title>
        <c:numFmt formatCode="+0.0;-0.0;0.0" sourceLinked="0"/>
        <c:majorTickMark val="out"/>
        <c:minorTickMark val="none"/>
        <c:tickLblPos val="nextTo"/>
        <c:spPr>
          <a:ln>
            <a:solidFill>
              <a:srgbClr val="BCCEE6"/>
            </a:solidFill>
          </a:ln>
        </c:spPr>
        <c:txPr>
          <a:bodyPr/>
          <a:lstStyle/>
          <a:p>
            <a:pPr>
              <a:defRPr sz="1100">
                <a:solidFill>
                  <a:srgbClr val="5B6B82"/>
                </a:solidFill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B82"/>
          </a:solidFill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C7A30B-959D-4445-B168-9AD907FF144F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CC079F-2E3C-4541-BBC3-91449F5871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23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 分钟。先讲清“串行”到底卡在哪：不是算得慢，而是没法在一个样本内部并行。ConvS2S 的路径长度随距离线性增长，ByteNet 是对数增长（原文 §2）。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重点看后两列：自注意力的串行操作和路径长度都是常数。代价是每层 O(n²·d)，当 n &lt; d 时（句子级翻译常见，d=512）反而比循环层便宜；序列很长时就要考虑受限自注意力（原文 §4）。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2 分钟，这页是全场最重要的图。按“左边编码器 → 中间连线 → 右边解码器”的顺序讲。LayerNorm(x + Sublayer(x)) 是原文的 Post-LN 写法。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脚注 4：若 q、k 各分量独立、均值 0、方差 1，则 q·k 均值 0、方差 d_k。这是“为什么除以 √d_k”的标准答案。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 = 8，d_k = d_v = d_model / h = 64。强调“拆成多个低维头”不增加计算量。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25.7 vs 25.8 是 newstest2013 开发集 BLEU（Table 3 E 行 vs base）。标签平滑会让困惑度变差，但提升 BLEU（原文 §5.4）。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注意口径：EN-FR 上 big 的 41.0 是单模型最好，但仍低于 ConvS2S 集成的 41.29，不要说“全面超越”。base 取最后 5 个检查点平均，big 取 20 个；beam size 4，长度惩罚 α = 0.6（§6.1）。base 在 8 张 P100 上训练约 12 小时，big 约 3.5 天（§5.2）。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对应困惑度：5.29 / 5.00 / 4.92 / 4.91 / 5.01。纵轴从 24.5 起，柱子高度差被放大，讲的时候要说明真实差距在 1 BLEU 以内；且都是单次运行，没有方差。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原始值：base 25.8；层数 2 → 23.7；去掉 dropout → 24.6；d_k 16 → 25.1；去掉标签平滑 → 25.3；可学习位置嵌入 → 25.7；big → 26.4。讲的时候点两处：一是 d_k 太小伤性能，说明相关度计算需要足够维度；二是去掉标签平滑后困惑度反而更低（4.67 vs 4.92）但 BLEU 下降，标签平滑是用困惑度换准确率。这页比主表更有用，它告诉我们哪些超参数敏感。base 参数量约 65M。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 GitHub 上一份个人从零实现的 PyTorch 版本。配置：6 层、8 头、d_model 512、FFN 2048、dropout 0.1、batch 128，与论文 base 结构一致。参数量 55,207,087，少于论文 65M，主要因为 Multi30K 词表更小。README 未说明分词方式、翻译方向细节和 BLEU 计算工具。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结论：这份复现只能证明实现能在小数据上正常训练，不能用来说明“复现到了论文水平”或“比论文低”。数据量相差约 150 倍。补充差异：论文 base 在 8 张 P100 上训练 10 万步约 12 小时；复现的学习率调度用 ReduceLROnPlateau，不是论文的 warmup 公式。Multi30K 规模（约 2.9 万训练句对）引自 Elliott et al., 2016。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受限自注意力在原文里只作为未来工作提出（§4、§7）。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这一页要结合组里自己的课题讲一句：我们的输入长度大概多少、会不会碰到 O(n²) 的显存上限。（需汇报人根据实际课题补充）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模拟导师问答（精简备份，完整版以对话交付为准）：</a:t>
            </a:r>
          </a:p>
          <a:p>
            <a:r>
              <a:t>Q：为什么要除以 √d_k？不缩放会怎样？</a:t>
            </a:r>
          </a:p>
          <a:p>
            <a:r>
              <a:t>A：q·k 的方差随 d_k 线性增长，点积过大时 softmax 进入饱和区、梯度极小；原文脚注 4 给出方差推导。</a:t>
            </a:r>
          </a:p>
          <a:p>
            <a:r>
              <a:t>Q：自注意力每层是 O(n²·d)，为什么还说比 RNN 快？</a:t>
            </a:r>
          </a:p>
          <a:p>
            <a:r>
              <a:t>A：关键是串行操作数 O(1) 对 O(n)，可以整层并行；且 n &lt; d 时（句子级翻译常见）每层计算量也更小。</a:t>
            </a:r>
          </a:p>
          <a:p>
            <a:r>
              <a:t>Q：多头注意力为什么不是头越多越好？</a:t>
            </a:r>
          </a:p>
          <a:p>
            <a:r>
              <a:t>A：总计算量固定，头越多每头维度越小；Table 3 (A)(B) 显示 d_k 过小会损害效果，32 头降到 25.4。</a:t>
            </a:r>
          </a:p>
          <a:p>
            <a:r>
              <a:t>Q：没有循环，模型怎么知道词序？为什么选正余弦位置编码？</a:t>
            </a:r>
          </a:p>
          <a:p>
            <a:r>
              <a:t>A：把正余弦编码加到输入嵌入上；作者假设它便于表达相对位置、能外推到更长序列，但可学习嵌入结果几乎相同（25.7 vs 25.8）。</a:t>
            </a:r>
          </a:p>
          <a:p>
            <a:r>
              <a:t>Q：训练成本的 FLOPs 是怎么算的？不同论文之间可比吗？</a:t>
            </a:r>
          </a:p>
          <a:p>
            <a:r>
              <a:t>A：训练时长 × GPU 数 × 单卡持续单精度算力（脚注 5），是粗略估计，没有计入实际硬件利用率差异。</a:t>
            </a:r>
          </a:p>
          <a:p>
            <a:r>
              <a:t>Q：复现得到 26.4 BLEU，能说明复现成功吗？</a:t>
            </a:r>
          </a:p>
          <a:p>
            <a:r>
              <a:t>A：不能直接和论文比：数据集、分词、BLEU 计算工具都不同；只能说明实现能在小数据集上正常收敛。</a:t>
            </a:r>
          </a:p>
          <a:p>
            <a:r>
              <a:t>（另有 2 题超出备注篇幅，见对话中的完整版）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AADB5-016F-F19E-3F91-16AE25ABC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D9B86C-8E0D-D822-F981-E79FD381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4FF528-F925-A647-D2A8-E8CA7138FA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2F7F46-465D-E851-73E3-5D501F892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5E7C41-CA83-C5A6-EBF6-49EE8821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886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A48F99-3EA4-958E-4095-7C35CABB5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FA4AB0-0569-7A73-1B81-01919888E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B08B9D-F14C-FBEB-A6E8-C721D354AC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F74671-19FB-D6DD-52BC-EAAE7289B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ABC177-394B-C149-A37D-333CACE59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085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09CAE7-6DDF-49B4-7348-D756C4E4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3D5797-F165-8050-203B-53E67A5DD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68EDDE-96A6-642E-8B30-B268BBF5EB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455D07-5D82-C16A-6429-E2B6AD26D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D69016-CA02-4AFF-A10F-18C1D2481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829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7B1CC-73EC-7592-3088-55CD73029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14F8B1-00E1-CA14-77E0-63F1600C0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907481-9DA0-8022-D0A0-CFA1EA598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012697-3A1B-46CF-7F43-791AA28C93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E76BF4-4FD0-0684-6B0B-FC02DD839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E94AEF-3F97-AC72-A8EC-2F3C04DC4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342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43C164-BFF6-3550-8D60-82661176F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F599AD-09DC-1537-7315-7B186E07F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73C61F-6440-08E3-5D9D-A84D15B61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36E945-1EAE-03A1-7DF8-CE8801DFD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D1DDA8-1A45-94EF-ABEE-A5B0EF64D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AA0A765-F7C3-E41C-8030-B44E34D42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532017-E812-2AC2-86FE-7A02D38DA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46A2EE-D0E7-509F-FCE7-A473FEA16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324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0BCF-BC44-F31B-FEC0-2F0DF336C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AD8003-67F8-FEC2-150D-9CB5B575A3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C36909-0B2E-0AA5-2A88-77D9A50C8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F2E413-5CCA-ADD4-1B65-3FCFD800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092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8106FF-D16A-B51A-3A49-BA9B2E14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A8137B-E431-78FD-87AB-1F87C261E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19374D-7EE5-48F8-F50E-8E5284129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061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3E90B-613F-6669-230E-38C03126E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CF8BD7-6E2B-DBD8-B591-D6F18F44D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C50455-08E9-213C-393D-34CC0C4BB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ED8FA4-3248-E63B-5B63-4E2E0E2263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22FB58-3432-A9F4-CAAC-C01AD0551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53C028-8217-741F-5C4D-EDC06C11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920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3435D-B258-1A61-C70E-DDCDC8A9B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E237972-1D49-8D48-D194-5E23D0F04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962AB6-6E76-DB0A-91C9-A4ED94173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0FD3B9-FD63-F538-3C93-040AA9C6F2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5B6696-ADD5-3AB5-365C-1526AF387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5F7A53-500F-4A46-BFD7-5FAFFA541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141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D39FF-143F-C68A-5782-987BD032E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995CB4-0B24-1E50-4659-4B9229F38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DA2CD-2677-6950-6B80-CE5182F132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F73584-BD00-D5DB-FB87-044A421E4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D86AE0-8A63-7B01-30DA-64AA61C5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103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69B58B0-CEDC-B7BC-44B6-30131D377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86EE4C-191D-D9BA-D225-F96048CC6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46C89B-C880-ED50-7211-0819A905FF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4AA6CC7-1AE6-43FC-980B-2EEEA97DB20C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68A8ED-3578-C61E-6A1D-94B4C5858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7F6F5E-22FD-A275-866B-17B5D0FE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102782-81BE-46DD-851C-DE61FE13B6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5941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BF9643A-0A79-4D24-19DA-26591B02F07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3000">
                <a:schemeClr val="bg1">
                  <a:alpha val="37000"/>
                </a:schemeClr>
              </a:gs>
              <a:gs pos="58000">
                <a:schemeClr val="bg1">
                  <a:alpha val="6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45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tags" Target="../tags/tag3.xml"/><Relationship Id="rId4" Type="http://schemas.openxmlformats.org/officeDocument/2006/relationships/image" Target="../media/image2.jpg"/><Relationship Id="rId5" Type="http://schemas.openxmlformats.org/officeDocument/2006/relationships/image" Target="../media/image6.png"/><Relationship Id="rId6" Type="http://schemas.openxmlformats.org/officeDocument/2006/relationships/tags" Target="../tags/tag2.xml"/><Relationship Id="rId7" Type="http://schemas.openxmlformats.org/officeDocument/2006/relationships/tags" Target="../tags/tag1.xml"/><Relationship Id="rId8" Type="http://schemas.openxmlformats.org/officeDocument/2006/relationships/image" Target="../media/image1.jpeg"/><Relationship Id="rId9" Type="http://schemas.microsoft.com/office/2007/relationships/hdphoto" Target="../media/hdphoto1.wdp"/><Relationship Id="rId10" Type="http://schemas.openxmlformats.org/officeDocument/2006/relationships/image" Target="../media/image5.png"/><Relationship Id="rId11" Type="http://schemas.openxmlformats.org/officeDocument/2006/relationships/tags" Target="../tags/tag4.xml"/><Relationship Id="rId1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Relationship Id="rId14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Relationship Id="rId14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Relationship Id="rId14" Type="http://schemas.openxmlformats.org/officeDocument/2006/relationships/image" Target="../media/image9.png"/><Relationship Id="rId15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Relationship Id="rId14" Type="http://schemas.openxmlformats.org/officeDocument/2006/relationships/image" Target="../media/image10.png"/><Relationship Id="rId15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Relationship Id="rId14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Relationship Id="rId14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Relationship Id="rId14" Type="http://schemas.openxmlformats.org/officeDocument/2006/relationships/chart" Target="../charts/chart1.xml"/><Relationship Id="rId15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Relationship Id="rId14" Type="http://schemas.openxmlformats.org/officeDocument/2006/relationships/chart" Target="../charts/chart2.xml"/><Relationship Id="rId15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Relationship Id="rId14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Relationship Id="rId14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Relationship Id="rId14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3.wdp"/><Relationship Id="rId4" Type="http://schemas.openxmlformats.org/officeDocument/2006/relationships/tags" Target="../tags/tag8.xml"/><Relationship Id="rId5" Type="http://schemas.openxmlformats.org/officeDocument/2006/relationships/image" Target="../media/image13.png"/><Relationship Id="rId6" Type="http://schemas.openxmlformats.org/officeDocument/2006/relationships/tags" Target="../tags/tag7.xml"/><Relationship Id="rId7" Type="http://schemas.openxmlformats.org/officeDocument/2006/relationships/tags" Target="../tags/tag6.xml"/><Relationship Id="rId8" Type="http://schemas.openxmlformats.org/officeDocument/2006/relationships/tags" Target="../tags/tag11.xml"/><Relationship Id="rId9" Type="http://schemas.openxmlformats.org/officeDocument/2006/relationships/image" Target="../media/image12.jpg"/><Relationship Id="rId10" Type="http://schemas.openxmlformats.org/officeDocument/2006/relationships/tags" Target="../tags/tag10.xml"/><Relationship Id="rId11" Type="http://schemas.openxmlformats.org/officeDocument/2006/relationships/image" Target="../media/image11.png"/><Relationship Id="rId12" Type="http://schemas.openxmlformats.org/officeDocument/2006/relationships/tags" Target="../tags/tag9.xml"/><Relationship Id="rId13" Type="http://schemas.openxmlformats.org/officeDocument/2006/relationships/image" Target="../media/image7.png"/><Relationship Id="rId14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tags" Target="../tags/tag14.xml"/><Relationship Id="rId4" Type="http://schemas.openxmlformats.org/officeDocument/2006/relationships/image" Target="../media/image2.jpg"/><Relationship Id="rId5" Type="http://schemas.openxmlformats.org/officeDocument/2006/relationships/tags" Target="../tags/tag13.xml"/><Relationship Id="rId6" Type="http://schemas.openxmlformats.org/officeDocument/2006/relationships/tags" Target="../tags/tag12.xml"/><Relationship Id="rId7" Type="http://schemas.openxmlformats.org/officeDocument/2006/relationships/image" Target="../media/image1.jpeg"/><Relationship Id="rId8" Type="http://schemas.microsoft.com/office/2007/relationships/hdphoto" Target="../media/hdphoto1.wdp"/><Relationship Id="rId9" Type="http://schemas.openxmlformats.org/officeDocument/2006/relationships/image" Target="../media/image5.png"/><Relationship Id="rId10" Type="http://schemas.openxmlformats.org/officeDocument/2006/relationships/tags" Target="../tags/tag15.xml"/><Relationship Id="rId11" Type="http://schemas.openxmlformats.org/officeDocument/2006/relationships/image" Target="../media/image4.png"/><Relationship Id="rId12" Type="http://schemas.openxmlformats.org/officeDocument/2006/relationships/notesSlide" Target="../notesSlides/notesSlide14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8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shell_图片 1">
            <a:extLst>
              <a:ext uri="{FF2B5EF4-FFF2-40B4-BE49-F238E27FC236}">
                <a16:creationId xmlns:a16="http://schemas.microsoft.com/office/drawing/2014/main" id="{BA39BBD1-4754-DC39-5539-58719B2332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7000" y="0"/>
            <a:ext cx="9140428" cy="6858000"/>
          </a:xfrm>
          <a:prstGeom prst="rect">
            <a:avLst/>
          </a:prstGeom>
        </p:spPr>
      </p:pic>
      <p:sp>
        <p:nvSpPr>
          <p:cNvPr id="3" name="shell_矩形 2">
            <a:extLst>
              <a:ext uri="{FF2B5EF4-FFF2-40B4-BE49-F238E27FC236}">
                <a16:creationId xmlns:a16="http://schemas.microsoft.com/office/drawing/2014/main" id="{DB0BF7EB-AC3D-AE46-7B22-F15238BB64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45000"/>
                </a:schemeClr>
              </a:gs>
              <a:gs pos="65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shell_图片 6" descr="图片包含 标志, 照片, 食物, 停止&#10;&#10;描述已自动生成">
            <a:extLst>
              <a:ext uri="{FF2B5EF4-FFF2-40B4-BE49-F238E27FC236}">
                <a16:creationId xmlns:a16="http://schemas.microsoft.com/office/drawing/2014/main" id="{04129637-76CD-C351-9F8A-F4F4E907A0CD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215817" y="140452"/>
            <a:ext cx="2601236" cy="803694"/>
          </a:xfrm>
          <a:prstGeom prst="rect">
            <a:avLst/>
          </a:prstGeom>
        </p:spPr>
      </p:pic>
      <p:sp>
        <p:nvSpPr>
          <p:cNvPr id="70" name="shell_任意多边形: 形状 69">
            <a:extLst>
              <a:ext uri="{FF2B5EF4-FFF2-40B4-BE49-F238E27FC236}">
                <a16:creationId xmlns:a16="http://schemas.microsoft.com/office/drawing/2014/main" id="{256A21FC-A0F2-3DD2-EBBB-8ECD5922BDAD}"/>
              </a:ext>
            </a:extLst>
          </p:cNvPr>
          <p:cNvSpPr/>
          <p:nvPr/>
        </p:nvSpPr>
        <p:spPr>
          <a:xfrm rot="21419250">
            <a:off x="121656" y="6296830"/>
            <a:ext cx="12118748" cy="1197037"/>
          </a:xfrm>
          <a:custGeom>
            <a:avLst/>
            <a:gdLst>
              <a:gd name="connsiteX0" fmla="*/ 12118748 w 12118748"/>
              <a:gd name="connsiteY0" fmla="*/ 9701 h 1197037"/>
              <a:gd name="connsiteX1" fmla="*/ 12056124 w 12118748"/>
              <a:gd name="connsiteY1" fmla="*/ 670749 h 1197037"/>
              <a:gd name="connsiteX2" fmla="*/ 11502946 w 12118748"/>
              <a:gd name="connsiteY2" fmla="*/ 639960 h 1197037"/>
              <a:gd name="connsiteX3" fmla="*/ 8287832 w 12118748"/>
              <a:gd name="connsiteY3" fmla="*/ 562568 h 1197037"/>
              <a:gd name="connsiteX4" fmla="*/ 8202390 w 12118748"/>
              <a:gd name="connsiteY4" fmla="*/ 563066 h 1197037"/>
              <a:gd name="connsiteX5" fmla="*/ 8096633 w 12118748"/>
              <a:gd name="connsiteY5" fmla="*/ 562567 h 1197037"/>
              <a:gd name="connsiteX6" fmla="*/ 73151 w 12118748"/>
              <a:gd name="connsiteY6" fmla="*/ 1177902 h 1197037"/>
              <a:gd name="connsiteX7" fmla="*/ 0 w 12118748"/>
              <a:gd name="connsiteY7" fmla="*/ 1197037 h 1197037"/>
              <a:gd name="connsiteX8" fmla="*/ 60337 w 12118748"/>
              <a:gd name="connsiteY8" fmla="*/ 1170582 h 1197037"/>
              <a:gd name="connsiteX9" fmla="*/ 8283188 w 12118748"/>
              <a:gd name="connsiteY9" fmla="*/ 65395 h 1197037"/>
              <a:gd name="connsiteX10" fmla="*/ 11892501 w 12118748"/>
              <a:gd name="connsiteY10" fmla="*/ 4842 h 1197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18748" h="1197037">
                <a:moveTo>
                  <a:pt x="12118748" y="9701"/>
                </a:moveTo>
                <a:lnTo>
                  <a:pt x="12056124" y="670749"/>
                </a:lnTo>
                <a:lnTo>
                  <a:pt x="11502946" y="639960"/>
                </a:lnTo>
                <a:cubicBezTo>
                  <a:pt x="10507433" y="590008"/>
                  <a:pt x="9422816" y="562568"/>
                  <a:pt x="8287832" y="562568"/>
                </a:cubicBezTo>
                <a:lnTo>
                  <a:pt x="8202390" y="563066"/>
                </a:lnTo>
                <a:lnTo>
                  <a:pt x="8096633" y="562567"/>
                </a:lnTo>
                <a:cubicBezTo>
                  <a:pt x="4587391" y="562568"/>
                  <a:pt x="1548575" y="812972"/>
                  <a:pt x="73151" y="1177902"/>
                </a:cubicBezTo>
                <a:lnTo>
                  <a:pt x="0" y="1197037"/>
                </a:lnTo>
                <a:lnTo>
                  <a:pt x="60337" y="1170582"/>
                </a:lnTo>
                <a:cubicBezTo>
                  <a:pt x="1248424" y="685489"/>
                  <a:pt x="4475235" y="233368"/>
                  <a:pt x="8283188" y="65395"/>
                </a:cubicBezTo>
                <a:cubicBezTo>
                  <a:pt x="9568253" y="8710"/>
                  <a:pt x="10790241" y="-9913"/>
                  <a:pt x="11892501" y="4842"/>
                </a:cubicBezTo>
                <a:close/>
              </a:path>
            </a:pathLst>
          </a:custGeom>
          <a:solidFill>
            <a:srgbClr val="F2BA02">
              <a:lumMod val="20000"/>
              <a:lumOff val="80000"/>
            </a:srgbClr>
          </a:solidFill>
          <a:ln w="15875" cap="flat" cmpd="sng" algn="ctr">
            <a:noFill/>
            <a:prstDash val="solid"/>
            <a:miter lim="800000"/>
          </a:ln>
          <a:effectLst>
            <a:outerShdw blurRad="190500" dist="114300" dir="5400000" sx="102000" sy="102000" algn="ctr" rotWithShape="0">
              <a:srgbClr val="4874CB">
                <a:alpha val="20000"/>
              </a:srgbClr>
            </a:outerShdw>
          </a:effectLst>
        </p:spPr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4" name="shell_组合 63">
            <a:extLst>
              <a:ext uri="{FF2B5EF4-FFF2-40B4-BE49-F238E27FC236}">
                <a16:creationId xmlns:a16="http://schemas.microsoft.com/office/drawing/2014/main" id="{AED22E0D-827A-CC43-7F9D-38DAF440F267}"/>
              </a:ext>
            </a:extLst>
          </p:cNvPr>
          <p:cNvGrpSpPr/>
          <p:nvPr/>
        </p:nvGrpSpPr>
        <p:grpSpPr>
          <a:xfrm>
            <a:off x="-12520" y="3747565"/>
            <a:ext cx="12217040" cy="1602243"/>
            <a:chOff x="-25040" y="3573689"/>
            <a:chExt cx="12217040" cy="1602243"/>
          </a:xfrm>
        </p:grpSpPr>
        <p:sp>
          <p:nvSpPr>
            <p:cNvPr id="45" name="shell_矩形 44">
              <a:extLst>
                <a:ext uri="{FF2B5EF4-FFF2-40B4-BE49-F238E27FC236}">
                  <a16:creationId xmlns:a16="http://schemas.microsoft.com/office/drawing/2014/main" id="{D380FFBC-1709-B157-97EE-7A5ED0DF6B01}"/>
                </a:ext>
              </a:extLst>
            </p:cNvPr>
            <p:cNvSpPr/>
            <p:nvPr/>
          </p:nvSpPr>
          <p:spPr>
            <a:xfrm>
              <a:off x="-12520" y="3573689"/>
              <a:ext cx="12192000" cy="1602243"/>
            </a:xfrm>
            <a:prstGeom prst="rect">
              <a:avLst/>
            </a:prstGeom>
            <a:solidFill>
              <a:schemeClr val="accent5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shell_矩形 15">
              <a:extLst>
                <a:ext uri="{FF2B5EF4-FFF2-40B4-BE49-F238E27FC236}">
                  <a16:creationId xmlns:a16="http://schemas.microsoft.com/office/drawing/2014/main" id="{A2E6FC28-6124-CD6B-95F9-DC3B903F9B8A}"/>
                </a:ext>
              </a:extLst>
            </p:cNvPr>
            <p:cNvSpPr/>
            <p:nvPr/>
          </p:nvSpPr>
          <p:spPr>
            <a:xfrm>
              <a:off x="-25040" y="3670296"/>
              <a:ext cx="12217040" cy="1440264"/>
            </a:xfrm>
            <a:prstGeom prst="rect">
              <a:avLst/>
            </a:prstGeom>
            <a:solidFill>
              <a:srgbClr val="4874CB">
                <a:lumMod val="75000"/>
                <a:alpha val="64000"/>
              </a:srgbClr>
            </a:solidFill>
            <a:ln w="12700" cap="flat" cmpd="sng" algn="ctr">
              <a:solidFill>
                <a:srgbClr val="4874CB">
                  <a:shade val="15000"/>
                  <a:alpha val="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CE09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67" name="shell_图片 66">
            <a:extLst>
              <a:ext uri="{FF2B5EF4-FFF2-40B4-BE49-F238E27FC236}">
                <a16:creationId xmlns:a16="http://schemas.microsoft.com/office/drawing/2014/main" id="{07F6B2F8-51BC-9516-CDBE-4B3EE9EDA30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308" y="4787500"/>
            <a:ext cx="6681444" cy="220230"/>
          </a:xfrm>
          <a:prstGeom prst="rect">
            <a:avLst/>
          </a:prstGeom>
        </p:spPr>
      </p:pic>
      <p:pic>
        <p:nvPicPr>
          <p:cNvPr id="69" name="shell_图片 68" descr="查看图片">
            <a:extLst>
              <a:ext uri="{FF2B5EF4-FFF2-40B4-BE49-F238E27FC236}">
                <a16:creationId xmlns:a16="http://schemas.microsoft.com/office/drawing/2014/main" id="{ED2F8138-2A89-F262-EAF6-308C5C8447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duotone>
              <a:srgbClr val="4874CB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10819"/>
                    </a14:imgEffect>
                    <a14:imgEffect>
                      <a14:saturation sat="104000"/>
                    </a14:imgEffect>
                    <a14:imgEffect>
                      <a14:brightnessContrast bright="21000" contrast="-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890" t="59668" r="39968" b="3779"/>
          <a:stretch>
            <a:fillRect/>
          </a:stretch>
        </p:blipFill>
        <p:spPr bwMode="auto">
          <a:xfrm flipH="1">
            <a:off x="0" y="5945954"/>
            <a:ext cx="12192000" cy="963990"/>
          </a:xfrm>
          <a:custGeom>
            <a:avLst/>
            <a:gdLst>
              <a:gd name="connsiteX0" fmla="*/ 12192000 w 12192000"/>
              <a:gd name="connsiteY0" fmla="*/ 0 h 2537673"/>
              <a:gd name="connsiteX1" fmla="*/ 0 w 12192000"/>
              <a:gd name="connsiteY1" fmla="*/ 0 h 2537673"/>
              <a:gd name="connsiteX2" fmla="*/ 0 w 12192000"/>
              <a:gd name="connsiteY2" fmla="*/ 2537673 h 2537673"/>
              <a:gd name="connsiteX3" fmla="*/ 12192000 w 12192000"/>
              <a:gd name="connsiteY3" fmla="*/ 2537673 h 2537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37673">
                <a:moveTo>
                  <a:pt x="12192000" y="0"/>
                </a:moveTo>
                <a:lnTo>
                  <a:pt x="0" y="0"/>
                </a:lnTo>
                <a:lnTo>
                  <a:pt x="0" y="2537673"/>
                </a:lnTo>
                <a:lnTo>
                  <a:pt x="12192000" y="253767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shell_图片 79">
            <a:extLst>
              <a:ext uri="{FF2B5EF4-FFF2-40B4-BE49-F238E27FC236}">
                <a16:creationId xmlns:a16="http://schemas.microsoft.com/office/drawing/2014/main" id="{23176E64-4D23-42EB-08A8-8DD67FF517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03222" y="0"/>
            <a:ext cx="6858000" cy="68580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3291840" y="960120"/>
            <a:ext cx="841248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Arial"/>
                <a:ea typeface="华文行楷"/>
                <a:cs typeface="Arial"/>
              </a:rPr>
              <a:t>Attention Is All You Need 论文精读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393192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Vaswani et al., NIPS 2017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74136" y="5230368"/>
            <a:ext cx="5449824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200"/>
              </a:spcAft>
            </a:pPr>
            <a:r>
              <a:rPr sz="15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汇报人：张同学 ｜ 信息科学技术学院</a:t>
            </a:r>
          </a:p>
          <a:p>
            <a:pPr algn="ctr">
              <a:lnSpc>
                <a:spcPct val="150000"/>
              </a:lnSpc>
              <a:spcAft>
                <a:spcPts val="200"/>
              </a:spcAft>
            </a:pPr>
            <a:r>
              <a:rPr sz="15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2026-09-23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TextBox 112"/>
          <p:cNvSpPr txBox="1"/>
          <p:nvPr/>
        </p:nvSpPr>
        <p:spPr>
          <a:xfrm>
            <a:off x="1298448" y="31089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CONTENTS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" y="1051560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目录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566928" y="1719072"/>
            <a:ext cx="11064240" cy="0"/>
          </a:xfrm>
          <a:prstGeom prst="line">
            <a:avLst/>
          </a:prstGeom>
          <a:ln w="1587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66928" y="1828800"/>
            <a:ext cx="8686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1D3F69"/>
                </a:solidFill>
                <a:latin typeface="DengXian Light"/>
                <a:ea typeface="等线 Light"/>
                <a:cs typeface="DengXian Light"/>
              </a:rPr>
              <a:t>01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527048" y="1828800"/>
            <a:ext cx="434340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8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问题与动机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Motivation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1527048" y="2788554"/>
            <a:ext cx="4343400" cy="0"/>
          </a:xfrm>
          <a:prstGeom prst="line">
            <a:avLst/>
          </a:prstGeom>
          <a:ln w="952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66928" y="2999232"/>
            <a:ext cx="8686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1D3F69"/>
                </a:solidFill>
                <a:latin typeface="DengXian Light"/>
                <a:ea typeface="等线 Light"/>
                <a:cs typeface="DengXian Light"/>
              </a:rPr>
              <a:t>02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527048" y="2999232"/>
            <a:ext cx="434340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8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方法拆解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Method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527048" y="3958986"/>
            <a:ext cx="4343400" cy="0"/>
          </a:xfrm>
          <a:prstGeom prst="line">
            <a:avLst/>
          </a:prstGeom>
          <a:ln w="952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566928" y="4169664"/>
            <a:ext cx="8686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1D3F69"/>
                </a:solidFill>
                <a:latin typeface="DengXian Light"/>
                <a:ea typeface="等线 Light"/>
                <a:cs typeface="DengXian Light"/>
              </a:rPr>
              <a:t>03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27048" y="4169664"/>
            <a:ext cx="434340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8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论文证据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Evidence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527048" y="5129418"/>
            <a:ext cx="4343400" cy="0"/>
          </a:xfrm>
          <a:prstGeom prst="line">
            <a:avLst/>
          </a:prstGeom>
          <a:ln w="952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6327648" y="1828800"/>
            <a:ext cx="8686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1D3F69"/>
                </a:solidFill>
                <a:latin typeface="DengXian Light"/>
                <a:ea typeface="等线 Light"/>
                <a:cs typeface="DengXian Light"/>
              </a:rPr>
              <a:t>04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287768" y="1828800"/>
            <a:ext cx="434340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8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复现与评价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Reproduction &amp; Critique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7287768" y="2788554"/>
            <a:ext cx="4343400" cy="0"/>
          </a:xfrm>
          <a:prstGeom prst="line">
            <a:avLst/>
          </a:prstGeom>
          <a:ln w="952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6327648" y="2999232"/>
            <a:ext cx="86868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1D3F69"/>
                </a:solidFill>
                <a:latin typeface="DengXian Light"/>
                <a:ea typeface="等线 Light"/>
                <a:cs typeface="DengXian Light"/>
              </a:rPr>
              <a:t>05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287768" y="2999232"/>
            <a:ext cx="4343400" cy="9363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8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对我们的启发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Takeaways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7287768" y="3958986"/>
            <a:ext cx="4343400" cy="0"/>
          </a:xfrm>
          <a:prstGeom prst="line">
            <a:avLst/>
          </a:prstGeom>
          <a:ln w="952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第一部分   问题与动机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80160" y="2011680"/>
            <a:ext cx="20116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0">
                <a:solidFill>
                  <a:srgbClr val="1D3F69"/>
                </a:solidFill>
                <a:latin typeface="DengXian Light"/>
                <a:ea typeface="等线 Light"/>
                <a:cs typeface="DengXian Light"/>
              </a:rPr>
              <a:t>01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80160" y="324612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问题与动机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325880" y="429768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Motivation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第一部分   问题与动机</a:t>
            </a:r>
          </a:p>
        </p:txBody>
      </p:sp>
      <p:sp>
        <p:nvSpPr>
          <p:cNvPr id="114" name="body_panel"/>
          <p:cNvSpPr/>
          <p:nvPr/>
        </p:nvSpPr>
        <p:spPr>
          <a:xfrm>
            <a:off x="420624" y="1792224"/>
            <a:ext cx="11356848" cy="4617720"/>
          </a:xfrm>
          <a:prstGeom prst="roundRect">
            <a:avLst>
              <a:gd name="adj" fmla="val 3000"/>
            </a:avLst>
          </a:prstGeom>
          <a:solidFill>
            <a:srgbClr val="FFFFFF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6928" y="1051560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RNN 的串行计算，是长序列训练的瓶颈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66928" y="1719072"/>
            <a:ext cx="11064240" cy="0"/>
          </a:xfrm>
          <a:prstGeom prst="line">
            <a:avLst/>
          </a:prstGeom>
          <a:ln w="1587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566928" y="219456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 t 步必须等第 t−1 步算完：序列越长越难并行，也越难学到远距离依赖。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" y="3081528"/>
            <a:ext cx="11064240" cy="3182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循环网络按位置逐步计算，同一个训练样本内部无法并行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显存又限制了跨样本的批处理，长序列时矛盾更突出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此前的注意力机制几乎都搭配 RNN 使用，没有摆脱串行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ConvS2S、ByteNet 可以并行，但远距离依赖的路径随距离增长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66928" y="641908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来源：Vaswani et al., 2017, §1–2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第一部分   问题与动机</a:t>
            </a:r>
          </a:p>
        </p:txBody>
      </p:sp>
      <p:sp>
        <p:nvSpPr>
          <p:cNvPr id="114" name="body_panel"/>
          <p:cNvSpPr/>
          <p:nvPr/>
        </p:nvSpPr>
        <p:spPr>
          <a:xfrm>
            <a:off x="420624" y="1792224"/>
            <a:ext cx="11356848" cy="4617720"/>
          </a:xfrm>
          <a:prstGeom prst="roundRect">
            <a:avLst>
              <a:gd name="adj" fmla="val 3000"/>
            </a:avLst>
          </a:prstGeom>
          <a:solidFill>
            <a:srgbClr val="FFFFFF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6928" y="1051560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自注意力把任意两位置的路径缩短到 O(1)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66928" y="1719072"/>
            <a:ext cx="11064240" cy="0"/>
          </a:xfrm>
          <a:prstGeom prst="line">
            <a:avLst/>
          </a:prstGeom>
          <a:ln w="1587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le 116"/>
          <p:cNvGraphicFramePr>
            <a:graphicFrameLocks noGrp="1"/>
          </p:cNvGraphicFramePr>
          <p:nvPr/>
        </p:nvGraphicFramePr>
        <p:xfrm>
          <a:off x="566928" y="2720340"/>
          <a:ext cx="11064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层类型</a:t>
                      </a:r>
                    </a:p>
                  </a:txBody>
                  <a:tcPr marL="109728" marR="109728" marT="36576" marB="36576" anchor="ctr">
                    <a:solidFill>
                      <a:srgbClr val="1D3F6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每层复杂度</a:t>
                      </a:r>
                    </a:p>
                  </a:txBody>
                  <a:tcPr marL="109728" marR="109728" marT="36576" marB="36576" anchor="ctr">
                    <a:solidFill>
                      <a:srgbClr val="1D3F6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串行操作数</a:t>
                      </a:r>
                    </a:p>
                  </a:txBody>
                  <a:tcPr marL="109728" marR="109728" marT="36576" marB="36576" anchor="ctr">
                    <a:solidFill>
                      <a:srgbClr val="1D3F6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最大路径长度</a:t>
                      </a:r>
                    </a:p>
                  </a:txBody>
                  <a:tcPr marL="109728" marR="109728" marT="36576" marB="36576" anchor="ctr">
                    <a:solidFill>
                      <a:srgbClr val="1D3F69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自注意力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O(n²·d)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O(1)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O(1)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循环层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O(n·d²)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O(n)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O(n)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卷积层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O(k·n·d²)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O(1)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O(logₖ n)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受限自注意力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O(r·n·d)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O(1)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O(n/r)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566928" y="641908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来源：Vaswani et al., 2017, Table 1（n 序列长度，d 表示维度，k 卷积核，r 邻域大小）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第二部分   方法拆解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80160" y="2011680"/>
            <a:ext cx="20116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0">
                <a:solidFill>
                  <a:srgbClr val="1D3F69"/>
                </a:solidFill>
                <a:latin typeface="DengXian Light"/>
                <a:ea typeface="等线 Light"/>
                <a:cs typeface="DengXian Light"/>
              </a:rPr>
              <a:t>02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80160" y="324612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方法拆解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325880" y="429768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Method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第二部分   方法拆解</a:t>
            </a:r>
          </a:p>
        </p:txBody>
      </p:sp>
      <p:sp>
        <p:nvSpPr>
          <p:cNvPr id="114" name="body_panel"/>
          <p:cNvSpPr/>
          <p:nvPr/>
        </p:nvSpPr>
        <p:spPr>
          <a:xfrm>
            <a:off x="420624" y="1792224"/>
            <a:ext cx="11356848" cy="4617720"/>
          </a:xfrm>
          <a:prstGeom prst="roundRect">
            <a:avLst>
              <a:gd name="adj" fmla="val 3000"/>
            </a:avLst>
          </a:prstGeom>
          <a:solidFill>
            <a:srgbClr val="FFFFFF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6928" y="1051560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编码器与解码器全部由注意力和前馈层堆叠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66928" y="1719072"/>
            <a:ext cx="11064240" cy="0"/>
          </a:xfrm>
          <a:prstGeom prst="line">
            <a:avLst/>
          </a:prstGeom>
          <a:ln w="1587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" name="Picture 116" descr="fig1_architectur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81288" y="1828800"/>
            <a:ext cx="2796975" cy="4050792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566928" y="5934456"/>
            <a:ext cx="4425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图 1　Transformer 整体结构（原文 Fig. 1）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404104" y="2261616"/>
            <a:ext cx="622706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6 层编码器 + 6 层解码器，d_model = 512，没有任何循环或卷积。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404104" y="3102864"/>
            <a:ext cx="6227064" cy="3160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每层两个子层：多头自注意力 + 逐位置前馈网络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每个子层外面套残差连接，再做 LayerNorm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解码器多一个编码器-解码器注意力，用来读取源句表示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解码器的自注意力加掩码，保证只看已经生成的词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66928" y="641908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来源：Vaswani et al., 2017, §3.1, Fig.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第二部分   方法拆解</a:t>
            </a:r>
          </a:p>
        </p:txBody>
      </p:sp>
      <p:sp>
        <p:nvSpPr>
          <p:cNvPr id="114" name="body_panel"/>
          <p:cNvSpPr/>
          <p:nvPr/>
        </p:nvSpPr>
        <p:spPr>
          <a:xfrm>
            <a:off x="420624" y="1792224"/>
            <a:ext cx="11356848" cy="4617720"/>
          </a:xfrm>
          <a:prstGeom prst="roundRect">
            <a:avLst>
              <a:gd name="adj" fmla="val 3000"/>
            </a:avLst>
          </a:prstGeom>
          <a:solidFill>
            <a:srgbClr val="FFFFFF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6928" y="1051560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缩放点积注意力：除以 √d_k 防止 softmax 饱和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66928" y="1719072"/>
            <a:ext cx="11064240" cy="0"/>
          </a:xfrm>
          <a:prstGeom prst="line">
            <a:avLst/>
          </a:prstGeom>
          <a:ln w="1587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" name="Picture 116" descr="fig2a_scaled_do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1896" y="1847770"/>
            <a:ext cx="3319272" cy="4012851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8311896" y="5934456"/>
            <a:ext cx="3319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图 2（左）缩放点积注意力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66928" y="2261616"/>
            <a:ext cx="733348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Attention(Q, K, V) = softmax(QKᵀ / √d_k) · V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6928" y="3102864"/>
            <a:ext cx="7333488" cy="3160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Q 与所有 K 做点积得到相关度，softmax 后对 V 加权求和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q·k 的方差随 d_k 增长，不缩放会把 softmax 推进梯度极小区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与加性注意力理论复杂度相当，但能用矩阵乘法高度优化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掩码把非法位置置为 −∞，解码器靠它屏蔽未来信息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66928" y="641908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来源：Vaswani et al., 2017, §3.2.1, 式 (1)，脚注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第二部分   方法拆解</a:t>
            </a:r>
          </a:p>
        </p:txBody>
      </p:sp>
      <p:sp>
        <p:nvSpPr>
          <p:cNvPr id="114" name="body_panel"/>
          <p:cNvSpPr/>
          <p:nvPr/>
        </p:nvSpPr>
        <p:spPr>
          <a:xfrm>
            <a:off x="420624" y="1792224"/>
            <a:ext cx="11356848" cy="4617720"/>
          </a:xfrm>
          <a:prstGeom prst="roundRect">
            <a:avLst>
              <a:gd name="adj" fmla="val 3000"/>
            </a:avLst>
          </a:prstGeom>
          <a:solidFill>
            <a:srgbClr val="FFFFFF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6928" y="1051560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多头注意力：8 个 64 维的头并行计算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66928" y="1719072"/>
            <a:ext cx="11064240" cy="0"/>
          </a:xfrm>
          <a:prstGeom prst="line">
            <a:avLst/>
          </a:prstGeom>
          <a:ln w="1587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" name="Picture 116" descr="fig2b_multihea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8711" y="1828800"/>
            <a:ext cx="3285642" cy="4050792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8311896" y="5934456"/>
            <a:ext cx="3319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图 2（右）多头注意力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66928" y="2261616"/>
            <a:ext cx="733348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计算量与单头全维度相当，却能同时关注不同子空间。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6928" y="3102864"/>
            <a:ext cx="7333488" cy="3160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每个头先把 Q、K、V 线性投影到 64 维，再各自做注意力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8 个头的输出拼接后，再做一次线性投影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三处使用：编码器自注意力、解码器掩码自注意力、编解码注意力</a:t>
            </a:r>
          </a:p>
          <a:p>
            <a:pPr algn="l">
              <a:lnSpc>
                <a:spcPct val="145000"/>
              </a:lnSpc>
              <a:spcAft>
                <a:spcPts val="216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单头比最佳设置低 0.9 BLEU（Table 3 A 组）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66928" y="641908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来源：Vaswani et al., 2017, §3.2.2–3.2.3, Table 3 (A)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第二部分   方法拆解</a:t>
            </a:r>
          </a:p>
        </p:txBody>
      </p:sp>
      <p:sp>
        <p:nvSpPr>
          <p:cNvPr id="114" name="body_panel"/>
          <p:cNvSpPr/>
          <p:nvPr/>
        </p:nvSpPr>
        <p:spPr>
          <a:xfrm>
            <a:off x="420624" y="1792224"/>
            <a:ext cx="11356848" cy="4617720"/>
          </a:xfrm>
          <a:prstGeom prst="roundRect">
            <a:avLst>
              <a:gd name="adj" fmla="val 3000"/>
            </a:avLst>
          </a:prstGeom>
          <a:solidFill>
            <a:srgbClr val="FFFFFF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6928" y="1051560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去掉循环后，三个细节补回顺序与稳定性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66928" y="1719072"/>
            <a:ext cx="11064240" cy="0"/>
          </a:xfrm>
          <a:prstGeom prst="line">
            <a:avLst/>
          </a:prstGeom>
          <a:ln w="1587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card_1"/>
          <p:cNvSpPr/>
          <p:nvPr/>
        </p:nvSpPr>
        <p:spPr>
          <a:xfrm>
            <a:off x="566928" y="2928112"/>
            <a:ext cx="3493008" cy="2236216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BC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04672" y="311099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01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04672" y="3549904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位置编码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04672" y="4171696"/>
            <a:ext cx="3017520" cy="86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· 正余弦函数，波长成几何级数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· 换成可学习嵌入：25.7 vs 25.8</a:t>
            </a:r>
          </a:p>
        </p:txBody>
      </p:sp>
      <p:sp>
        <p:nvSpPr>
          <p:cNvPr id="121" name="card_2"/>
          <p:cNvSpPr/>
          <p:nvPr/>
        </p:nvSpPr>
        <p:spPr>
          <a:xfrm>
            <a:off x="4352544" y="2928112"/>
            <a:ext cx="3493008" cy="2236216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BC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590288" y="311099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02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590288" y="3549904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逐位置前馈网络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90288" y="4171696"/>
            <a:ext cx="3017520" cy="86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· 每个位置独立的两层全连接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· 中间维度 2048，ReLU 激活</a:t>
            </a:r>
          </a:p>
        </p:txBody>
      </p:sp>
      <p:sp>
        <p:nvSpPr>
          <p:cNvPr id="125" name="card_3"/>
          <p:cNvSpPr/>
          <p:nvPr/>
        </p:nvSpPr>
        <p:spPr>
          <a:xfrm>
            <a:off x="8138160" y="2928112"/>
            <a:ext cx="3493008" cy="2236216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BC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375904" y="311099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03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375904" y="3549904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训练配方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375904" y="4171696"/>
            <a:ext cx="3017520" cy="864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· Adam，前 4000 步线性 warmup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· Dropout 0.1，标签平滑 0.1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66928" y="641908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来源：Vaswani et al., 2017, §3.3, §3.5, §5.3–5.4, Table 3 (E)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第三部分   论文证据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80160" y="2011680"/>
            <a:ext cx="20116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0">
                <a:solidFill>
                  <a:srgbClr val="1D3F69"/>
                </a:solidFill>
                <a:latin typeface="DengXian Light"/>
                <a:ea typeface="等线 Light"/>
                <a:cs typeface="DengXian Light"/>
              </a:rPr>
              <a:t>03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80160" y="324612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论文证据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325880" y="429768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第三部分   论文证据</a:t>
            </a:r>
          </a:p>
        </p:txBody>
      </p:sp>
      <p:sp>
        <p:nvSpPr>
          <p:cNvPr id="114" name="body_panel"/>
          <p:cNvSpPr/>
          <p:nvPr/>
        </p:nvSpPr>
        <p:spPr>
          <a:xfrm>
            <a:off x="420624" y="1792224"/>
            <a:ext cx="11356848" cy="4617720"/>
          </a:xfrm>
          <a:prstGeom prst="roundRect">
            <a:avLst>
              <a:gd name="adj" fmla="val 3000"/>
            </a:avLst>
          </a:prstGeom>
          <a:solidFill>
            <a:srgbClr val="FFFFFF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6928" y="1051560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EN-DE 上 base 模型已超过此前全部结果（含集成）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66928" y="1719072"/>
            <a:ext cx="11064240" cy="0"/>
          </a:xfrm>
          <a:prstGeom prst="line">
            <a:avLst/>
          </a:prstGeom>
          <a:ln w="1587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le 116"/>
          <p:cNvGraphicFramePr>
            <a:graphicFrameLocks noGrp="1"/>
          </p:cNvGraphicFramePr>
          <p:nvPr/>
        </p:nvGraphicFramePr>
        <p:xfrm>
          <a:off x="566928" y="2455164"/>
          <a:ext cx="1106424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模型</a:t>
                      </a:r>
                    </a:p>
                  </a:txBody>
                  <a:tcPr marL="109728" marR="109728" marT="36576" marB="36576" anchor="ctr">
                    <a:solidFill>
                      <a:srgbClr val="1D3F6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EN-DE BLEU</a:t>
                      </a:r>
                    </a:p>
                  </a:txBody>
                  <a:tcPr marL="109728" marR="109728" marT="36576" marB="36576" anchor="ctr">
                    <a:solidFill>
                      <a:srgbClr val="1D3F6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EN-FR BLEU</a:t>
                      </a:r>
                    </a:p>
                  </a:txBody>
                  <a:tcPr marL="109728" marR="109728" marT="36576" marB="36576" anchor="ctr">
                    <a:solidFill>
                      <a:srgbClr val="1D3F6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训练成本 EN-DE (FLOPs)</a:t>
                      </a:r>
                    </a:p>
                  </a:txBody>
                  <a:tcPr marL="109728" marR="109728" marT="36576" marB="36576" anchor="ctr">
                    <a:solidFill>
                      <a:srgbClr val="1D3F69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GNMT + RL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24.6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39.92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2.3×10¹⁹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ConvS2S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25.16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40.46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9.6×10¹⁸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ConvS2S 集成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26.36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41.29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7.7×10¹⁹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Transformer base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27.3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38.1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3.3×10¹⁸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Transformer big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28.4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41.0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350" b="0">
                          <a:solidFill>
                            <a:srgbClr val="1D3F69"/>
                          </a:solidFill>
                          <a:latin typeface="Arial"/>
                          <a:ea typeface="微软雅黑"/>
                          <a:cs typeface="Arial"/>
                        </a:rPr>
                        <a:t>2.3×10¹⁹</a:t>
                      </a:r>
                    </a:p>
                  </a:txBody>
                  <a:tcPr marL="109728" marR="109728" marT="36576" marB="36576" anchor="ctr"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566928" y="641908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来源：Vaswani et al., 2017, Table 2（newstest2014）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第三部分   论文证据</a:t>
            </a:r>
          </a:p>
        </p:txBody>
      </p:sp>
      <p:sp>
        <p:nvSpPr>
          <p:cNvPr id="114" name="body_panel"/>
          <p:cNvSpPr/>
          <p:nvPr/>
        </p:nvSpPr>
        <p:spPr>
          <a:xfrm>
            <a:off x="420624" y="1792224"/>
            <a:ext cx="11356848" cy="4617720"/>
          </a:xfrm>
          <a:prstGeom prst="roundRect">
            <a:avLst>
              <a:gd name="adj" fmla="val 3000"/>
            </a:avLst>
          </a:prstGeom>
          <a:solidFill>
            <a:srgbClr val="FFFFFF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6928" y="1051560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头数不是越多越好：单头掉 0.9 BLEU，32 头也下降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66928" y="1719072"/>
            <a:ext cx="11064240" cy="0"/>
          </a:xfrm>
          <a:prstGeom prst="line">
            <a:avLst/>
          </a:prstGeom>
          <a:ln w="1587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566928" y="18288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固定总计算量，只改变头数 h 与每头维度 d_k = d_v。</a:t>
            </a:r>
          </a:p>
        </p:txBody>
      </p:sp>
      <p:graphicFrame>
        <p:nvGraphicFramePr>
          <p:cNvPr id="118" name="Chart 117"/>
          <p:cNvGraphicFramePr>
            <a:graphicFrameLocks noGrp="1"/>
          </p:cNvGraphicFramePr>
          <p:nvPr/>
        </p:nvGraphicFramePr>
        <p:xfrm>
          <a:off x="566928" y="2715768"/>
          <a:ext cx="11064240" cy="3547872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119" name="TextBox 118"/>
          <p:cNvSpPr txBox="1"/>
          <p:nvPr/>
        </p:nvSpPr>
        <p:spPr>
          <a:xfrm>
            <a:off x="566928" y="641908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来源：Vaswani et al., 2017, Table 3 (A)；开发集，未做检查点平均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第三部分   论文证据</a:t>
            </a:r>
          </a:p>
        </p:txBody>
      </p:sp>
      <p:sp>
        <p:nvSpPr>
          <p:cNvPr id="114" name="body_panel"/>
          <p:cNvSpPr/>
          <p:nvPr/>
        </p:nvSpPr>
        <p:spPr>
          <a:xfrm>
            <a:off x="420624" y="1792224"/>
            <a:ext cx="11356848" cy="4617720"/>
          </a:xfrm>
          <a:prstGeom prst="roundRect">
            <a:avLst>
              <a:gd name="adj" fmla="val 3000"/>
            </a:avLst>
          </a:prstGeom>
          <a:solidFill>
            <a:srgbClr val="FFFFFF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6928" y="1051560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消融：减层、去 dropout 掉得最多，大模型 +0.6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66928" y="1719072"/>
            <a:ext cx="11064240" cy="0"/>
          </a:xfrm>
          <a:prstGeom prst="line">
            <a:avLst/>
          </a:prstGeom>
          <a:ln w="1587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566928" y="18288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各变体相对 base（25.8 BLEU）的变化，newstest2013 开发集。</a:t>
            </a:r>
          </a:p>
        </p:txBody>
      </p:sp>
      <p:graphicFrame>
        <p:nvGraphicFramePr>
          <p:cNvPr id="118" name="Chart 117"/>
          <p:cNvGraphicFramePr>
            <a:graphicFrameLocks noGrp="1"/>
          </p:cNvGraphicFramePr>
          <p:nvPr/>
        </p:nvGraphicFramePr>
        <p:xfrm>
          <a:off x="566928" y="2715768"/>
          <a:ext cx="11064240" cy="3547872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119" name="TextBox 118"/>
          <p:cNvSpPr txBox="1"/>
          <p:nvPr/>
        </p:nvSpPr>
        <p:spPr>
          <a:xfrm>
            <a:off x="566928" y="641908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来源：Vaswani et al., 2017, Table 3 (B)(C)(D)(E) 与 big 行；单次运行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第四部分   复现与评价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80160" y="2011680"/>
            <a:ext cx="20116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0">
                <a:solidFill>
                  <a:srgbClr val="1D3F69"/>
                </a:solidFill>
                <a:latin typeface="DengXian Light"/>
                <a:ea typeface="等线 Light"/>
                <a:cs typeface="DengXian Light"/>
              </a:rPr>
              <a:t>04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80160" y="324612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复现与评价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325880" y="429768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Reproduction &amp; Critique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第四部分   复现与评价</a:t>
            </a:r>
          </a:p>
        </p:txBody>
      </p:sp>
      <p:sp>
        <p:nvSpPr>
          <p:cNvPr id="114" name="body_panel"/>
          <p:cNvSpPr/>
          <p:nvPr/>
        </p:nvSpPr>
        <p:spPr>
          <a:xfrm>
            <a:off x="420624" y="1792224"/>
            <a:ext cx="11356848" cy="4617720"/>
          </a:xfrm>
          <a:prstGeom prst="roundRect">
            <a:avLst>
              <a:gd name="adj" fmla="val 3000"/>
            </a:avLst>
          </a:prstGeom>
          <a:solidFill>
            <a:srgbClr val="FFFFFF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6928" y="1051560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第三方复现：Multi30K 英德上 26.4 BLEU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66928" y="1719072"/>
            <a:ext cx="11064240" cy="0"/>
          </a:xfrm>
          <a:prstGeom prst="line">
            <a:avLst/>
          </a:prstGeom>
          <a:ln w="1587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kpi_1"/>
          <p:cNvSpPr/>
          <p:nvPr/>
        </p:nvSpPr>
        <p:spPr>
          <a:xfrm>
            <a:off x="566928" y="2766060"/>
            <a:ext cx="3444240" cy="25603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95528" y="2967228"/>
            <a:ext cx="2987040" cy="11777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0">
                <a:solidFill>
                  <a:srgbClr val="1D3F69"/>
                </a:solidFill>
                <a:latin typeface="DengXian Light"/>
                <a:ea typeface="等线 Light"/>
                <a:cs typeface="DengXian Light"/>
              </a:rPr>
              <a:t>26.4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5528" y="4199839"/>
            <a:ext cx="29870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BLEU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Multi30K EN-DE，README 报告值</a:t>
            </a:r>
          </a:p>
        </p:txBody>
      </p:sp>
      <p:sp>
        <p:nvSpPr>
          <p:cNvPr id="120" name="kpi_2"/>
          <p:cNvSpPr/>
          <p:nvPr/>
        </p:nvSpPr>
        <p:spPr>
          <a:xfrm>
            <a:off x="4376928" y="2766060"/>
            <a:ext cx="3444240" cy="25603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605528" y="2967228"/>
            <a:ext cx="2987040" cy="11777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0">
                <a:solidFill>
                  <a:srgbClr val="1D3F69"/>
                </a:solidFill>
                <a:latin typeface="DengXian Light"/>
                <a:ea typeface="等线 Light"/>
                <a:cs typeface="DengXian Light"/>
              </a:rPr>
              <a:t>55.2M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605528" y="4199839"/>
            <a:ext cx="29870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参数量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论文 base 约 65M</a:t>
            </a:r>
          </a:p>
        </p:txBody>
      </p:sp>
      <p:sp>
        <p:nvSpPr>
          <p:cNvPr id="123" name="kpi_3"/>
          <p:cNvSpPr/>
          <p:nvPr/>
        </p:nvSpPr>
        <p:spPr>
          <a:xfrm>
            <a:off x="8186928" y="2766060"/>
            <a:ext cx="3444240" cy="25603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415528" y="2967228"/>
            <a:ext cx="2987040" cy="11777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800" b="0">
                <a:solidFill>
                  <a:srgbClr val="1D3F69"/>
                </a:solidFill>
                <a:latin typeface="DengXian Light"/>
                <a:ea typeface="等线 Light"/>
                <a:cs typeface="DengXian Light"/>
              </a:rPr>
              <a:t>3.20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415528" y="4199839"/>
            <a:ext cx="29870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最低验证损失</a:t>
            </a:r>
          </a:p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最低训练损失 2.85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" y="641908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来源：github.com/hyunwoongko/transformer（README）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第四部分   复现与评价</a:t>
            </a:r>
          </a:p>
        </p:txBody>
      </p:sp>
      <p:sp>
        <p:nvSpPr>
          <p:cNvPr id="114" name="body_panel"/>
          <p:cNvSpPr/>
          <p:nvPr/>
        </p:nvSpPr>
        <p:spPr>
          <a:xfrm>
            <a:off x="420624" y="1792224"/>
            <a:ext cx="11356848" cy="4617720"/>
          </a:xfrm>
          <a:prstGeom prst="roundRect">
            <a:avLst>
              <a:gd name="adj" fmla="val 3000"/>
            </a:avLst>
          </a:prstGeom>
          <a:solidFill>
            <a:srgbClr val="FFFFFF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6928" y="1051560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26.4 与论文 27.3 不能直接比：数据和口径都不同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66928" y="1719072"/>
            <a:ext cx="11064240" cy="0"/>
          </a:xfrm>
          <a:prstGeom prst="line">
            <a:avLst/>
          </a:prstGeom>
          <a:ln w="1587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cmp_1"/>
          <p:cNvSpPr/>
          <p:nvPr/>
        </p:nvSpPr>
        <p:spPr>
          <a:xfrm>
            <a:off x="566928" y="2765237"/>
            <a:ext cx="5349240" cy="2561966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BC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66928" y="2765237"/>
            <a:ext cx="5349240" cy="82296"/>
          </a:xfrm>
          <a:prstGeom prst="rect">
            <a:avLst/>
          </a:prstGeom>
          <a:solidFill>
            <a:srgbClr val="1D3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22960" y="3021269"/>
            <a:ext cx="48371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论文 base（Table 2）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22960" y="3606485"/>
            <a:ext cx="4837176" cy="16018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5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· WMT14 英德，约 450 万句对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5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· BPE 共享词表，约 3.7 万词元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5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· newstest2014 测试，beam 4 + 检查点平均</a:t>
            </a:r>
          </a:p>
        </p:txBody>
      </p:sp>
      <p:sp>
        <p:nvSpPr>
          <p:cNvPr id="121" name="cmp_2"/>
          <p:cNvSpPr/>
          <p:nvPr/>
        </p:nvSpPr>
        <p:spPr>
          <a:xfrm>
            <a:off x="6281928" y="2765237"/>
            <a:ext cx="5349240" cy="2561966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BC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281928" y="2765237"/>
            <a:ext cx="5349240" cy="82296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537960" y="3021269"/>
            <a:ext cx="48371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B4762A"/>
                </a:solidFill>
                <a:latin typeface="Arial"/>
                <a:ea typeface="微软雅黑"/>
                <a:cs typeface="Arial"/>
              </a:rPr>
              <a:t>第三方复现（Multi30K）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537960" y="3606485"/>
            <a:ext cx="4837176" cy="16018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5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· Multi30K 图像描述，约 2.9 万句对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5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· README 未说明分词和 BLEU 计算工具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5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· 只报告一次结果，没有方差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66928" y="641908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来源：原文 §5–6；hyunwoongko/transformer；Elliott et al., 2016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第四部分   复现与评价</a:t>
            </a:r>
          </a:p>
        </p:txBody>
      </p:sp>
      <p:sp>
        <p:nvSpPr>
          <p:cNvPr id="114" name="body_panel"/>
          <p:cNvSpPr/>
          <p:nvPr/>
        </p:nvSpPr>
        <p:spPr>
          <a:xfrm>
            <a:off x="420624" y="1792224"/>
            <a:ext cx="11356848" cy="4617720"/>
          </a:xfrm>
          <a:prstGeom prst="roundRect">
            <a:avLst>
              <a:gd name="adj" fmla="val 3000"/>
            </a:avLst>
          </a:prstGeom>
          <a:solidFill>
            <a:srgbClr val="FFFFFF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6928" y="1051560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我的评价：机制论证扎实，但证据范围有限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66928" y="1719072"/>
            <a:ext cx="11064240" cy="0"/>
          </a:xfrm>
          <a:prstGeom prst="line">
            <a:avLst/>
          </a:prstGeom>
          <a:ln w="1587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566928" y="2807818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可信的部分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566928" y="3283306"/>
            <a:ext cx="5303520" cy="0"/>
          </a:xfrm>
          <a:prstGeom prst="line">
            <a:avLst/>
          </a:prstGeom>
          <a:ln w="22225">
            <a:solidFill>
              <a:srgbClr val="1D3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66928" y="3466186"/>
            <a:ext cx="5303520" cy="27974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复杂度与路径长度分析，和消融结果相互印证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主表同时给出 BLEU 与训练成本，比较较全面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代码开源（tensor2tensor），第三方能独立复现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327648" y="2807818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需要保留的地方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6327648" y="3283306"/>
            <a:ext cx="5303520" cy="0"/>
          </a:xfrm>
          <a:prstGeom prst="line">
            <a:avLst/>
          </a:prstGeom>
          <a:ln w="22225">
            <a:solidFill>
              <a:srgbClr val="1D3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6327648" y="3466186"/>
            <a:ext cx="5303520" cy="27974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只在机器翻译上验证，任务类型单一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没有多次运行的方差，0.1–0.3 的差距难判断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长序列的 O(n²) 代价只做了分析，没有实测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66928" y="641908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来源：Vaswani et al., 2017, §4, §6–7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第五部分   对我们的启发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80160" y="2011680"/>
            <a:ext cx="20116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0">
                <a:solidFill>
                  <a:srgbClr val="1D3F69"/>
                </a:solidFill>
                <a:latin typeface="DengXian Light"/>
                <a:ea typeface="等线 Light"/>
                <a:cs typeface="DengXian Light"/>
              </a:rPr>
              <a:t>05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80160" y="324612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对我们的启发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325880" y="429768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5B6B82"/>
                </a:solidFill>
                <a:latin typeface="Arial"/>
                <a:ea typeface="微软雅黑"/>
                <a:cs typeface="Arial"/>
              </a:rPr>
              <a:t>Takeaways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12" name="shell_组合 111">
            <a:extLst>
              <a:ext uri="{FF2B5EF4-FFF2-40B4-BE49-F238E27FC236}">
                <a16:creationId xmlns:a16="http://schemas.microsoft.com/office/drawing/2014/main" id="{D5B719AA-4191-7119-8DF6-056E1676244E}"/>
              </a:ext>
            </a:extLst>
          </p:cNvPr>
          <p:cNvGrpSpPr/>
          <p:nvPr/>
        </p:nvGrpSpPr>
        <p:grpSpPr>
          <a:xfrm>
            <a:off x="240631" y="199215"/>
            <a:ext cx="5044403" cy="649224"/>
            <a:chOff x="240631" y="199215"/>
            <a:chExt cx="5044403" cy="649224"/>
          </a:xfrm>
        </p:grpSpPr>
        <p:pic>
          <p:nvPicPr>
            <p:cNvPr id="103" name="shell_图片 102">
              <a:extLst>
                <a:ext uri="{FF2B5EF4-FFF2-40B4-BE49-F238E27FC236}">
                  <a16:creationId xmlns:a16="http://schemas.microsoft.com/office/drawing/2014/main" id="{2846D88E-8C5F-C1DF-80FD-EC016064F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24" r="66324" b="-3304"/>
            <a:stretch>
              <a:fillRect/>
            </a:stretch>
          </p:blipFill>
          <p:spPr>
            <a:xfrm>
              <a:off x="240631" y="199215"/>
              <a:ext cx="684808" cy="649224"/>
            </a:xfrm>
            <a:prstGeom prst="rect">
              <a:avLst/>
            </a:prstGeom>
          </p:spPr>
        </p:pic>
        <p:sp>
          <p:nvSpPr>
            <p:cNvPr id="110" name="shell_文本框 4">
              <a:extLst>
                <a:ext uri="{FF2B5EF4-FFF2-40B4-BE49-F238E27FC236}">
                  <a16:creationId xmlns:a16="http://schemas.microsoft.com/office/drawing/2014/main" id="{23634EBE-8296-4C22-4B13-CD9AE03DD0B3}"/>
                </a:ext>
              </a:extLst>
            </p:cNvPr>
            <p:cNvSpPr txBox="1"/>
            <p:nvPr/>
          </p:nvSpPr>
          <p:spPr>
            <a:xfrm>
              <a:off x="867688" y="282001"/>
              <a:ext cx="1692910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  <p:sp>
          <p:nvSpPr>
            <p:cNvPr id="111" name="shell_文本框 4">
              <a:extLst>
                <a:ext uri="{FF2B5EF4-FFF2-40B4-BE49-F238E27FC236}">
                  <a16:creationId xmlns:a16="http://schemas.microsoft.com/office/drawing/2014/main" id="{37D29DD6-7898-7001-2309-0460CF1594DF}"/>
                </a:ext>
              </a:extLst>
            </p:cNvPr>
            <p:cNvSpPr txBox="1"/>
            <p:nvPr/>
          </p:nvSpPr>
          <p:spPr>
            <a:xfrm>
              <a:off x="2428285" y="282001"/>
              <a:ext cx="2856749" cy="46166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b="1" dirty="0">
                  <a:latin typeface="微软雅黑" charset="0"/>
                  <a:ea typeface="微软雅黑" charset="0"/>
                </a:rPr>
                <a:t/>
              </a:r>
            </a:p>
          </p:txBody>
        </p:sp>
      </p:grpSp>
      <p:sp>
        <p:nvSpPr>
          <p:cNvPr id="113" name="nav_label"/>
          <p:cNvSpPr txBox="1"/>
          <p:nvPr/>
        </p:nvSpPr>
        <p:spPr>
          <a:xfrm>
            <a:off x="1298448" y="274320"/>
            <a:ext cx="5669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第五部分   对我们的启发</a:t>
            </a:r>
          </a:p>
        </p:txBody>
      </p:sp>
      <p:sp>
        <p:nvSpPr>
          <p:cNvPr id="114" name="body_panel"/>
          <p:cNvSpPr/>
          <p:nvPr/>
        </p:nvSpPr>
        <p:spPr>
          <a:xfrm>
            <a:off x="420624" y="1792224"/>
            <a:ext cx="11356848" cy="4617720"/>
          </a:xfrm>
          <a:prstGeom prst="roundRect">
            <a:avLst>
              <a:gd name="adj" fmla="val 3000"/>
            </a:avLst>
          </a:prstGeom>
          <a:solidFill>
            <a:srgbClr val="FFFFFF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6928" y="1051560"/>
            <a:ext cx="11064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读论文先看消融表，做复现先对齐评测口径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66928" y="1719072"/>
            <a:ext cx="11064240" cy="0"/>
          </a:xfrm>
          <a:prstGeom prst="line">
            <a:avLst/>
          </a:prstGeom>
          <a:ln w="15875">
            <a:solidFill>
              <a:srgbClr val="BC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566928" y="219456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复现结果和论文数字比较前，先确认数据、分词、解码和评测工具一致。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" y="3081528"/>
            <a:ext cx="11064240" cy="3182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复现前列清数据集、分词、解码设置与 BLEU 工具，缺一项就无法比较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消融表告诉我们哪些超参敏感，调参优先级按它来排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输入变长时注意 O(n²) 显存，必要时考虑受限或稀疏注意力</a:t>
            </a:r>
          </a:p>
          <a:p>
            <a:pPr algn="l">
              <a:lnSpc>
                <a:spcPct val="145000"/>
              </a:lnSpc>
              <a:spcAft>
                <a:spcPts val="2400"/>
              </a:spcAft>
            </a:pPr>
            <a:r>
              <a:rPr sz="1600" b="0">
                <a:solidFill>
                  <a:srgbClr val="1D3F69"/>
                </a:solidFill>
                <a:latin typeface="Arial"/>
                <a:ea typeface="微软雅黑"/>
                <a:cs typeface="Arial"/>
              </a:rPr>
              <a:t>▪ 报告自己的结果时，至少跑 3 个随机种子并给出方差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7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shell_图片 1">
            <a:extLst>
              <a:ext uri="{FF2B5EF4-FFF2-40B4-BE49-F238E27FC236}">
                <a16:creationId xmlns:a16="http://schemas.microsoft.com/office/drawing/2014/main" id="{CE84B28F-C29A-B213-A8D1-472FB30475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7000" y="0"/>
            <a:ext cx="9140428" cy="6858000"/>
          </a:xfrm>
          <a:prstGeom prst="rect">
            <a:avLst/>
          </a:prstGeom>
        </p:spPr>
      </p:pic>
      <p:sp>
        <p:nvSpPr>
          <p:cNvPr id="3" name="shell_矩形 2">
            <a:extLst>
              <a:ext uri="{FF2B5EF4-FFF2-40B4-BE49-F238E27FC236}">
                <a16:creationId xmlns:a16="http://schemas.microsoft.com/office/drawing/2014/main" id="{A29882C6-0241-2229-AB0F-F1C1D8E0B2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45000"/>
                </a:schemeClr>
              </a:gs>
              <a:gs pos="65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4" name="shell_组合 3">
            <a:extLst>
              <a:ext uri="{FF2B5EF4-FFF2-40B4-BE49-F238E27FC236}">
                <a16:creationId xmlns:a16="http://schemas.microsoft.com/office/drawing/2014/main" id="{9AC66F03-CF45-B402-AB57-06C992CE83A2}"/>
              </a:ext>
            </a:extLst>
          </p:cNvPr>
          <p:cNvGrpSpPr/>
          <p:nvPr/>
        </p:nvGrpSpPr>
        <p:grpSpPr>
          <a:xfrm>
            <a:off x="3694027" y="555698"/>
            <a:ext cx="8370897" cy="3384735"/>
            <a:chOff x="6703983" y="2089463"/>
            <a:chExt cx="6009278" cy="3577529"/>
          </a:xfrm>
        </p:grpSpPr>
        <p:sp>
          <p:nvSpPr>
            <p:cNvPr id="5" name="shell_文本框 12">
              <a:extLst>
                <a:ext uri="{FF2B5EF4-FFF2-40B4-BE49-F238E27FC236}">
                  <a16:creationId xmlns:a16="http://schemas.microsoft.com/office/drawing/2014/main" id="{2B33A261-6B57-5C39-AF8A-8E8F344153A5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7966370" y="2089463"/>
              <a:ext cx="1694997" cy="16935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9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glow rad="25400">
                      <a:prstClr val="white">
                        <a:alpha val="20000"/>
                      </a:prst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+mn-cs"/>
                  <a:sym typeface="+mn-ea"/>
                </a:rPr>
                <a:t>谢</a:t>
              </a:r>
            </a:p>
          </p:txBody>
        </p:sp>
        <p:sp>
          <p:nvSpPr>
            <p:cNvPr id="6" name="shell_文本框 5">
              <a:extLst>
                <a:ext uri="{FF2B5EF4-FFF2-40B4-BE49-F238E27FC236}">
                  <a16:creationId xmlns:a16="http://schemas.microsoft.com/office/drawing/2014/main" id="{64D01167-B992-D047-6B8A-2695B3D66D70}"/>
                </a:ext>
              </a:extLst>
            </p:cNvPr>
            <p:cNvSpPr txBox="1"/>
            <p:nvPr/>
          </p:nvSpPr>
          <p:spPr>
            <a:xfrm>
              <a:off x="9595331" y="2495061"/>
              <a:ext cx="1422400" cy="27976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600" dirty="0">
                  <a:solidFill>
                    <a:prstClr val="white"/>
                  </a:solidFill>
                  <a:effectLst>
                    <a:glow rad="25400">
                      <a:prstClr val="white">
                        <a:alpha val="20000"/>
                      </a:prst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华文行楷" panose="02010800040101010101" charset="-122"/>
                  <a:ea typeface="华文行楷" panose="02010800040101010101" charset="-122"/>
                  <a:sym typeface="+mn-ea"/>
                </a:rPr>
                <a:t>观</a:t>
              </a:r>
              <a:endParaRPr kumimoji="0" lang="zh-CN" altLang="en-US" sz="1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25400">
                    <a:prstClr val="white">
                      <a:alpha val="20000"/>
                    </a:prst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+mn-cs"/>
                <a:sym typeface="+mn-ea"/>
              </a:endParaRPr>
            </a:p>
          </p:txBody>
        </p:sp>
        <p:sp>
          <p:nvSpPr>
            <p:cNvPr id="7" name="shell_文本框 6">
              <a:extLst>
                <a:ext uri="{FF2B5EF4-FFF2-40B4-BE49-F238E27FC236}">
                  <a16:creationId xmlns:a16="http://schemas.microsoft.com/office/drawing/2014/main" id="{DB4ECFDA-8B0A-0332-A0D6-47F60D4BE43B}"/>
                </a:ext>
              </a:extLst>
            </p:cNvPr>
            <p:cNvSpPr txBox="1"/>
            <p:nvPr/>
          </p:nvSpPr>
          <p:spPr>
            <a:xfrm>
              <a:off x="6703983" y="2643042"/>
              <a:ext cx="1694997" cy="27976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600" dirty="0">
                  <a:solidFill>
                    <a:prstClr val="white"/>
                  </a:solidFill>
                  <a:effectLst>
                    <a:glow rad="25400">
                      <a:prstClr val="white">
                        <a:alpha val="20000"/>
                      </a:prst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华文行楷" panose="02010800040101010101" charset="-122"/>
                  <a:ea typeface="华文行楷" panose="02010800040101010101" charset="-122"/>
                  <a:sym typeface="+mn-ea"/>
                </a:rPr>
                <a:t>谢</a:t>
              </a:r>
            </a:p>
          </p:txBody>
        </p:sp>
        <p:sp>
          <p:nvSpPr>
            <p:cNvPr id="9" name="shell_文本框 8">
              <a:extLst>
                <a:ext uri="{FF2B5EF4-FFF2-40B4-BE49-F238E27FC236}">
                  <a16:creationId xmlns:a16="http://schemas.microsoft.com/office/drawing/2014/main" id="{AB23454F-050A-A35E-B6B0-76A2722DBBC0}"/>
                </a:ext>
              </a:extLst>
            </p:cNvPr>
            <p:cNvSpPr txBox="1"/>
            <p:nvPr/>
          </p:nvSpPr>
          <p:spPr>
            <a:xfrm>
              <a:off x="10743490" y="2332590"/>
              <a:ext cx="1969771" cy="33344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9900" dirty="0">
                  <a:solidFill>
                    <a:prstClr val="white"/>
                  </a:solidFill>
                  <a:effectLst>
                    <a:glow rad="25400">
                      <a:prstClr val="white">
                        <a:alpha val="20000"/>
                      </a:prst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华文行楷" panose="02010800040101010101" charset="-122"/>
                  <a:ea typeface="华文行楷" panose="02010800040101010101" charset="-122"/>
                  <a:cs typeface="微软雅黑" charset="-122"/>
                  <a:sym typeface="+mn-ea"/>
                </a:rPr>
                <a:t>看</a:t>
              </a:r>
              <a:endParaRPr kumimoji="0" lang="zh-CN" altLang="en-US" sz="19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25400">
                    <a:prstClr val="white">
                      <a:alpha val="20000"/>
                    </a:prst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微软雅黑" charset="-122"/>
                <a:sym typeface="+mn-ea"/>
              </a:endParaRPr>
            </a:p>
          </p:txBody>
        </p:sp>
      </p:grpSp>
      <p:pic>
        <p:nvPicPr>
          <p:cNvPr id="10" name="shell_图片 6" descr="图片包含 标志, 照片, 食物, 停止&#10;&#10;描述已自动生成">
            <a:extLst>
              <a:ext uri="{FF2B5EF4-FFF2-40B4-BE49-F238E27FC236}">
                <a16:creationId xmlns:a16="http://schemas.microsoft.com/office/drawing/2014/main" id="{D80D874F-7968-7B58-48A9-E2BAAE84DDB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215817" y="140452"/>
            <a:ext cx="2601236" cy="803694"/>
          </a:xfrm>
          <a:prstGeom prst="rect">
            <a:avLst/>
          </a:prstGeom>
        </p:spPr>
      </p:pic>
      <p:sp>
        <p:nvSpPr>
          <p:cNvPr id="70" name="shell_任意多边形: 形状 69">
            <a:extLst>
              <a:ext uri="{FF2B5EF4-FFF2-40B4-BE49-F238E27FC236}">
                <a16:creationId xmlns:a16="http://schemas.microsoft.com/office/drawing/2014/main" id="{4CF8F8F8-EF02-5746-BB47-F1B65D16E25D}"/>
              </a:ext>
            </a:extLst>
          </p:cNvPr>
          <p:cNvSpPr/>
          <p:nvPr/>
        </p:nvSpPr>
        <p:spPr>
          <a:xfrm rot="21419250">
            <a:off x="121656" y="6296830"/>
            <a:ext cx="12118748" cy="1197037"/>
          </a:xfrm>
          <a:custGeom>
            <a:avLst/>
            <a:gdLst>
              <a:gd name="connsiteX0" fmla="*/ 12118748 w 12118748"/>
              <a:gd name="connsiteY0" fmla="*/ 9701 h 1197037"/>
              <a:gd name="connsiteX1" fmla="*/ 12056124 w 12118748"/>
              <a:gd name="connsiteY1" fmla="*/ 670749 h 1197037"/>
              <a:gd name="connsiteX2" fmla="*/ 11502946 w 12118748"/>
              <a:gd name="connsiteY2" fmla="*/ 639960 h 1197037"/>
              <a:gd name="connsiteX3" fmla="*/ 8287832 w 12118748"/>
              <a:gd name="connsiteY3" fmla="*/ 562568 h 1197037"/>
              <a:gd name="connsiteX4" fmla="*/ 8202390 w 12118748"/>
              <a:gd name="connsiteY4" fmla="*/ 563066 h 1197037"/>
              <a:gd name="connsiteX5" fmla="*/ 8096633 w 12118748"/>
              <a:gd name="connsiteY5" fmla="*/ 562567 h 1197037"/>
              <a:gd name="connsiteX6" fmla="*/ 73151 w 12118748"/>
              <a:gd name="connsiteY6" fmla="*/ 1177902 h 1197037"/>
              <a:gd name="connsiteX7" fmla="*/ 0 w 12118748"/>
              <a:gd name="connsiteY7" fmla="*/ 1197037 h 1197037"/>
              <a:gd name="connsiteX8" fmla="*/ 60337 w 12118748"/>
              <a:gd name="connsiteY8" fmla="*/ 1170582 h 1197037"/>
              <a:gd name="connsiteX9" fmla="*/ 8283188 w 12118748"/>
              <a:gd name="connsiteY9" fmla="*/ 65395 h 1197037"/>
              <a:gd name="connsiteX10" fmla="*/ 11892501 w 12118748"/>
              <a:gd name="connsiteY10" fmla="*/ 4842 h 1197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18748" h="1197037">
                <a:moveTo>
                  <a:pt x="12118748" y="9701"/>
                </a:moveTo>
                <a:lnTo>
                  <a:pt x="12056124" y="670749"/>
                </a:lnTo>
                <a:lnTo>
                  <a:pt x="11502946" y="639960"/>
                </a:lnTo>
                <a:cubicBezTo>
                  <a:pt x="10507433" y="590008"/>
                  <a:pt x="9422816" y="562568"/>
                  <a:pt x="8287832" y="562568"/>
                </a:cubicBezTo>
                <a:lnTo>
                  <a:pt x="8202390" y="563066"/>
                </a:lnTo>
                <a:lnTo>
                  <a:pt x="8096633" y="562567"/>
                </a:lnTo>
                <a:cubicBezTo>
                  <a:pt x="4587391" y="562568"/>
                  <a:pt x="1548575" y="812972"/>
                  <a:pt x="73151" y="1177902"/>
                </a:cubicBezTo>
                <a:lnTo>
                  <a:pt x="0" y="1197037"/>
                </a:lnTo>
                <a:lnTo>
                  <a:pt x="60337" y="1170582"/>
                </a:lnTo>
                <a:cubicBezTo>
                  <a:pt x="1248424" y="685489"/>
                  <a:pt x="4475235" y="233368"/>
                  <a:pt x="8283188" y="65395"/>
                </a:cubicBezTo>
                <a:cubicBezTo>
                  <a:pt x="9568253" y="8710"/>
                  <a:pt x="10790241" y="-9913"/>
                  <a:pt x="11892501" y="4842"/>
                </a:cubicBezTo>
                <a:close/>
              </a:path>
            </a:pathLst>
          </a:custGeom>
          <a:solidFill>
            <a:srgbClr val="F2BA02">
              <a:lumMod val="20000"/>
              <a:lumOff val="80000"/>
            </a:srgbClr>
          </a:solidFill>
          <a:ln w="15875" cap="flat" cmpd="sng" algn="ctr">
            <a:noFill/>
            <a:prstDash val="solid"/>
            <a:miter lim="800000"/>
          </a:ln>
          <a:effectLst>
            <a:outerShdw blurRad="190500" dist="114300" dir="5400000" sx="102000" sy="102000" algn="ctr" rotWithShape="0">
              <a:srgbClr val="4874CB">
                <a:alpha val="20000"/>
              </a:srgbClr>
            </a:outerShdw>
          </a:effectLst>
        </p:spPr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4" name="shell_组合 63">
            <a:extLst>
              <a:ext uri="{FF2B5EF4-FFF2-40B4-BE49-F238E27FC236}">
                <a16:creationId xmlns:a16="http://schemas.microsoft.com/office/drawing/2014/main" id="{36E982AB-261C-C20D-D8BE-2F3357894143}"/>
              </a:ext>
            </a:extLst>
          </p:cNvPr>
          <p:cNvGrpSpPr/>
          <p:nvPr/>
        </p:nvGrpSpPr>
        <p:grpSpPr>
          <a:xfrm>
            <a:off x="-12520" y="3747565"/>
            <a:ext cx="12217040" cy="1602243"/>
            <a:chOff x="-25040" y="3573689"/>
            <a:chExt cx="12217040" cy="1602243"/>
          </a:xfrm>
        </p:grpSpPr>
        <p:sp>
          <p:nvSpPr>
            <p:cNvPr id="45" name="shell_矩形 44">
              <a:extLst>
                <a:ext uri="{FF2B5EF4-FFF2-40B4-BE49-F238E27FC236}">
                  <a16:creationId xmlns:a16="http://schemas.microsoft.com/office/drawing/2014/main" id="{7409CF5A-A621-0877-E95F-E3925080E09D}"/>
                </a:ext>
              </a:extLst>
            </p:cNvPr>
            <p:cNvSpPr/>
            <p:nvPr/>
          </p:nvSpPr>
          <p:spPr>
            <a:xfrm>
              <a:off x="-12520" y="3573689"/>
              <a:ext cx="12192000" cy="1602243"/>
            </a:xfrm>
            <a:prstGeom prst="rect">
              <a:avLst/>
            </a:prstGeom>
            <a:solidFill>
              <a:schemeClr val="accent5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shell_矩形 15">
              <a:extLst>
                <a:ext uri="{FF2B5EF4-FFF2-40B4-BE49-F238E27FC236}">
                  <a16:creationId xmlns:a16="http://schemas.microsoft.com/office/drawing/2014/main" id="{AF69010B-FF17-80C4-84C5-5DDE151565FE}"/>
                </a:ext>
              </a:extLst>
            </p:cNvPr>
            <p:cNvSpPr/>
            <p:nvPr/>
          </p:nvSpPr>
          <p:spPr>
            <a:xfrm>
              <a:off x="-25040" y="3670296"/>
              <a:ext cx="12217040" cy="1440264"/>
            </a:xfrm>
            <a:prstGeom prst="rect">
              <a:avLst/>
            </a:prstGeom>
            <a:solidFill>
              <a:srgbClr val="4874CB">
                <a:lumMod val="75000"/>
                <a:alpha val="64000"/>
              </a:srgbClr>
            </a:solidFill>
            <a:ln w="12700" cap="flat" cmpd="sng" algn="ctr">
              <a:solidFill>
                <a:srgbClr val="4874CB">
                  <a:shade val="15000"/>
                  <a:alpha val="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CE09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502920" y="393192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欢迎提问与讨论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5.46937"/>
  <p:tag name="SHADOWSIZE" val="100"/>
  <p:tag name="KSO_WM_DIAGRAM_VIRTUALLY_FRAME" val="{&quot;height&quot;:407.65,&quot;left&quot;:-6.35,&quot;top&quot;:85.05,&quot;width&quot;:843.308110236220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5.46937"/>
  <p:tag name="SHADOWSIZE" val="100"/>
  <p:tag name="KSO_WM_DIAGRAM_VIRTUALLY_FRAME" val="{&quot;height&quot;:407.65,&quot;left&quot;:-6.35,&quot;top&quot;:85.05,&quot;width&quot;:843.308110236220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5.46937"/>
  <p:tag name="SHADOWSIZE" val="100"/>
  <p:tag name="KSO_WM_DIAGRAM_VIRTUALLY_FRAME" val="{&quot;height&quot;:407.65,&quot;left&quot;:-6.35,&quot;top&quot;:85.05,&quot;width&quot;:843.308110236220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5.46937"/>
  <p:tag name="SHADOWSIZE" val="100"/>
  <p:tag name="KSO_WM_DIAGRAM_VIRTUALLY_FRAME" val="{&quot;height&quot;:407.65,&quot;left&quot;:-6.35,&quot;top&quot;:85.05,&quot;width&quot;:843.308110236220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378</Words>
  <Application>Microsoft Office PowerPoint</Application>
  <PresentationFormat>宽屏</PresentationFormat>
  <Paragraphs>75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等线</vt:lpstr>
      <vt:lpstr>华文行楷</vt:lpstr>
      <vt:lpstr>思源宋体 CN Heavy</vt:lpstr>
      <vt:lpstr>微软雅黑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 论文精读</dc:title>
  <dc:creator>张同学</dc:creator>
  <cp:lastModifiedBy>张同学</cp:lastModifiedBy>
  <cp:revision>1</cp:revision>
  <dcterms:created xsi:type="dcterms:W3CDTF">2026-09-23T12:01:55Z</dcterms:created>
  <dcterms:modified xsi:type="dcterms:W3CDTF">2026-09-23T12:01:55Z</dcterms:modified>
  <dc:subject>Vaswani et al., NIPS 2017</dc:subject>
  <cp:keywords>暨南大学, 学术汇报, 组会, 答辩</cp:keywords>
  <dc:description/>
  <cp:category/>
</cp:coreProperties>
</file>