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63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0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991409"/>
            <a:ext cx="18288000" cy="6304182"/>
            <a:chOff x="0" y="0"/>
            <a:chExt cx="4816593" cy="16603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660361"/>
            </a:xfrm>
            <a:custGeom>
              <a:avLst/>
              <a:gdLst/>
              <a:ahLst/>
              <a:cxnLst/>
              <a:rect l="l" t="t" r="r" b="b"/>
              <a:pathLst>
                <a:path w="4816592" h="1660361">
                  <a:moveTo>
                    <a:pt x="0" y="0"/>
                  </a:moveTo>
                  <a:lnTo>
                    <a:pt x="4816592" y="0"/>
                  </a:lnTo>
                  <a:lnTo>
                    <a:pt x="4816592" y="1660361"/>
                  </a:lnTo>
                  <a:lnTo>
                    <a:pt x="0" y="1660361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4816593" cy="1660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753588" y="725642"/>
            <a:ext cx="2943385" cy="294338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395867"/>
            <a:ext cx="18288000" cy="659550"/>
            <a:chOff x="0" y="0"/>
            <a:chExt cx="24813158" cy="8948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666658" y="6849847"/>
            <a:ext cx="3323066" cy="599057"/>
            <a:chOff x="0" y="0"/>
            <a:chExt cx="4508736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08736" cy="812800"/>
            </a:xfrm>
            <a:custGeom>
              <a:avLst/>
              <a:gdLst/>
              <a:ahLst/>
              <a:cxnLst/>
              <a:rect l="l" t="t" r="r" b="b"/>
              <a:pathLst>
                <a:path w="4508736" h="812800">
                  <a:moveTo>
                    <a:pt x="232975" y="0"/>
                  </a:moveTo>
                  <a:lnTo>
                    <a:pt x="4275760" y="0"/>
                  </a:lnTo>
                  <a:cubicBezTo>
                    <a:pt x="4337549" y="0"/>
                    <a:pt x="4396808" y="24546"/>
                    <a:pt x="4440499" y="68237"/>
                  </a:cubicBezTo>
                  <a:cubicBezTo>
                    <a:pt x="4484190" y="111928"/>
                    <a:pt x="4508736" y="171186"/>
                    <a:pt x="4508736" y="232975"/>
                  </a:cubicBezTo>
                  <a:lnTo>
                    <a:pt x="4508736" y="579825"/>
                  </a:lnTo>
                  <a:cubicBezTo>
                    <a:pt x="4508736" y="641614"/>
                    <a:pt x="4484190" y="700872"/>
                    <a:pt x="4440499" y="744563"/>
                  </a:cubicBezTo>
                  <a:cubicBezTo>
                    <a:pt x="4396808" y="788254"/>
                    <a:pt x="4337549" y="812800"/>
                    <a:pt x="4275760" y="812800"/>
                  </a:cubicBezTo>
                  <a:lnTo>
                    <a:pt x="232975" y="812800"/>
                  </a:lnTo>
                  <a:cubicBezTo>
                    <a:pt x="171186" y="812800"/>
                    <a:pt x="111928" y="788254"/>
                    <a:pt x="68237" y="744563"/>
                  </a:cubicBezTo>
                  <a:cubicBezTo>
                    <a:pt x="24546" y="700872"/>
                    <a:pt x="0" y="641614"/>
                    <a:pt x="0" y="579825"/>
                  </a:cubicBezTo>
                  <a:lnTo>
                    <a:pt x="0" y="232975"/>
                  </a:lnTo>
                  <a:cubicBezTo>
                    <a:pt x="0" y="171186"/>
                    <a:pt x="24546" y="111928"/>
                    <a:pt x="68237" y="68237"/>
                  </a:cubicBezTo>
                  <a:cubicBezTo>
                    <a:pt x="111928" y="24546"/>
                    <a:pt x="171186" y="0"/>
                    <a:pt x="232975" y="0"/>
                  </a:cubicBez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50873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1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5950483" y="6986632"/>
            <a:ext cx="305550" cy="325486"/>
          </a:xfrm>
          <a:custGeom>
            <a:avLst/>
            <a:gdLst/>
            <a:ahLst/>
            <a:cxnLst/>
            <a:rect l="l" t="t" r="r" b="b"/>
            <a:pathLst>
              <a:path w="305550" h="325486">
                <a:moveTo>
                  <a:pt x="0" y="0"/>
                </a:moveTo>
                <a:lnTo>
                  <a:pt x="305550" y="0"/>
                </a:lnTo>
                <a:lnTo>
                  <a:pt x="305550" y="325486"/>
                </a:lnTo>
                <a:lnTo>
                  <a:pt x="0" y="3254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9298277" y="6848780"/>
            <a:ext cx="3323066" cy="599057"/>
            <a:chOff x="0" y="0"/>
            <a:chExt cx="4508736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508736" cy="812800"/>
            </a:xfrm>
            <a:custGeom>
              <a:avLst/>
              <a:gdLst/>
              <a:ahLst/>
              <a:cxnLst/>
              <a:rect l="l" t="t" r="r" b="b"/>
              <a:pathLst>
                <a:path w="4508736" h="812800">
                  <a:moveTo>
                    <a:pt x="232975" y="0"/>
                  </a:moveTo>
                  <a:lnTo>
                    <a:pt x="4275760" y="0"/>
                  </a:lnTo>
                  <a:cubicBezTo>
                    <a:pt x="4337549" y="0"/>
                    <a:pt x="4396808" y="24546"/>
                    <a:pt x="4440499" y="68237"/>
                  </a:cubicBezTo>
                  <a:cubicBezTo>
                    <a:pt x="4484190" y="111928"/>
                    <a:pt x="4508736" y="171186"/>
                    <a:pt x="4508736" y="232975"/>
                  </a:cubicBezTo>
                  <a:lnTo>
                    <a:pt x="4508736" y="579825"/>
                  </a:lnTo>
                  <a:cubicBezTo>
                    <a:pt x="4508736" y="641614"/>
                    <a:pt x="4484190" y="700872"/>
                    <a:pt x="4440499" y="744563"/>
                  </a:cubicBezTo>
                  <a:cubicBezTo>
                    <a:pt x="4396808" y="788254"/>
                    <a:pt x="4337549" y="812800"/>
                    <a:pt x="4275760" y="812800"/>
                  </a:cubicBezTo>
                  <a:lnTo>
                    <a:pt x="232975" y="812800"/>
                  </a:lnTo>
                  <a:cubicBezTo>
                    <a:pt x="171186" y="812800"/>
                    <a:pt x="111928" y="788254"/>
                    <a:pt x="68237" y="744563"/>
                  </a:cubicBezTo>
                  <a:cubicBezTo>
                    <a:pt x="24546" y="700872"/>
                    <a:pt x="0" y="641614"/>
                    <a:pt x="0" y="579825"/>
                  </a:cubicBezTo>
                  <a:lnTo>
                    <a:pt x="0" y="232975"/>
                  </a:lnTo>
                  <a:cubicBezTo>
                    <a:pt x="0" y="171186"/>
                    <a:pt x="24546" y="111928"/>
                    <a:pt x="68237" y="68237"/>
                  </a:cubicBezTo>
                  <a:cubicBezTo>
                    <a:pt x="111928" y="24546"/>
                    <a:pt x="171186" y="0"/>
                    <a:pt x="232975" y="0"/>
                  </a:cubicBez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450873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1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9578380" y="6985566"/>
            <a:ext cx="305550" cy="325486"/>
          </a:xfrm>
          <a:custGeom>
            <a:avLst/>
            <a:gdLst/>
            <a:ahLst/>
            <a:cxnLst/>
            <a:rect l="l" t="t" r="r" b="b"/>
            <a:pathLst>
              <a:path w="305550" h="325486">
                <a:moveTo>
                  <a:pt x="0" y="0"/>
                </a:moveTo>
                <a:lnTo>
                  <a:pt x="305550" y="0"/>
                </a:lnTo>
                <a:lnTo>
                  <a:pt x="305550" y="325485"/>
                </a:lnTo>
                <a:lnTo>
                  <a:pt x="0" y="3254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0" y="8814100"/>
            <a:ext cx="18288000" cy="1472900"/>
            <a:chOff x="0" y="0"/>
            <a:chExt cx="4816593" cy="38792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16592" cy="387924"/>
            </a:xfrm>
            <a:custGeom>
              <a:avLst/>
              <a:gdLst/>
              <a:ahLst/>
              <a:cxnLst/>
              <a:rect l="l" t="t" r="r" b="b"/>
              <a:pathLst>
                <a:path w="4816592" h="387924">
                  <a:moveTo>
                    <a:pt x="0" y="0"/>
                  </a:moveTo>
                  <a:lnTo>
                    <a:pt x="4816592" y="0"/>
                  </a:lnTo>
                  <a:lnTo>
                    <a:pt x="4816592" y="387924"/>
                  </a:lnTo>
                  <a:lnTo>
                    <a:pt x="0" y="387924"/>
                  </a:lnTo>
                  <a:close/>
                </a:path>
              </a:pathLst>
            </a:custGeom>
            <a:solidFill>
              <a:srgbClr val="4A639F"/>
            </a:solid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4816593" cy="387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822623" y="559665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选题的背景意义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30842" y="559665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研究方法与过程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01773" y="559665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研究成果与展示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909992" y="559665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论文总结与致谢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948F7AFD-8018-1195-22AC-3223059814D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" t="12984" r="100" b="9663"/>
          <a:stretch>
            <a:fillRect/>
          </a:stretch>
        </p:blipFill>
        <p:spPr>
          <a:xfrm>
            <a:off x="59" y="1036367"/>
            <a:ext cx="18145126" cy="7758684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6398908" y="6933612"/>
            <a:ext cx="2409840" cy="381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2219" b="1" dirty="0" err="1">
                <a:solidFill>
                  <a:srgbClr val="FFFFFF"/>
                </a:solidFill>
                <a:latin typeface="思源黑体 1 Medium"/>
                <a:ea typeface="思源黑体 1 Medium"/>
                <a:cs typeface="思源黑体 1 Medium"/>
                <a:sym typeface="思源黑体 1 Medium"/>
              </a:rPr>
              <a:t>答辩学生：XXX</a:t>
            </a:r>
            <a:endParaRPr lang="en-US" sz="2219" b="1" dirty="0">
              <a:solidFill>
                <a:srgbClr val="FFFFFF"/>
              </a:solidFill>
              <a:latin typeface="思源黑体 1 Medium"/>
              <a:ea typeface="思源黑体 1 Medium"/>
              <a:cs typeface="思源黑体 1 Medium"/>
              <a:sym typeface="思源黑体 1 Medium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019539" y="6940941"/>
            <a:ext cx="2409840" cy="381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2219" b="1" dirty="0" err="1">
                <a:solidFill>
                  <a:srgbClr val="FFFFFF"/>
                </a:solidFill>
                <a:latin typeface="思源黑体 1 Medium"/>
                <a:ea typeface="思源黑体 1 Medium"/>
                <a:cs typeface="思源黑体 1 Medium"/>
                <a:sym typeface="思源黑体 1 Medium"/>
              </a:rPr>
              <a:t>指导老师：XXX</a:t>
            </a:r>
            <a:endParaRPr lang="en-US" sz="2219" b="1" dirty="0">
              <a:solidFill>
                <a:srgbClr val="FFFFFF"/>
              </a:solidFill>
              <a:latin typeface="思源黑体 1 Medium"/>
              <a:ea typeface="思源黑体 1 Medium"/>
              <a:cs typeface="思源黑体 1 Medium"/>
              <a:sym typeface="思源黑体 1 Medium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699418" y="3765388"/>
            <a:ext cx="8889164" cy="845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4741" b="1" dirty="0">
                <a:solidFill>
                  <a:srgbClr val="4A639F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Graduation thesis defenses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405825" y="4600771"/>
            <a:ext cx="13815294" cy="1856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4"/>
              </a:lnSpc>
            </a:pPr>
            <a:r>
              <a:rPr lang="en-US" sz="11329" b="1" dirty="0" err="1">
                <a:solidFill>
                  <a:srgbClr val="4A639F"/>
                </a:solidFill>
                <a:latin typeface="思源黑体 2 Bold"/>
                <a:ea typeface="思源黑体 2 Bold"/>
                <a:cs typeface="思源黑体 2 Bold"/>
                <a:sym typeface="思源黑体 2 Bold"/>
              </a:rPr>
              <a:t>学术风毕业论文答辩</a:t>
            </a:r>
            <a:endParaRPr lang="en-US" sz="11329" b="1" dirty="0">
              <a:solidFill>
                <a:srgbClr val="4A639F"/>
              </a:solidFill>
              <a:latin typeface="思源黑体 2 Bold"/>
              <a:ea typeface="思源黑体 2 Bold"/>
              <a:cs typeface="思源黑体 2 Bold"/>
              <a:sym typeface="思源黑体 2 Bold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8111424" y="1011211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74" t="-5498" r="-8582" b="-8905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>
            <a:extLst>
              <a:ext uri="{FF2B5EF4-FFF2-40B4-BE49-F238E27FC236}">
                <a16:creationId xmlns:a16="http://schemas.microsoft.com/office/drawing/2014/main" id="{A36DF68C-A713-8E46-AFDF-3A0C6CA6EE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" t="12984" r="100" b="9663"/>
          <a:stretch>
            <a:fillRect/>
          </a:stretch>
        </p:blipFill>
        <p:spPr>
          <a:xfrm>
            <a:off x="-4" y="1028700"/>
            <a:ext cx="18145126" cy="7758684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0" y="1991409"/>
            <a:ext cx="18288000" cy="6304182"/>
            <a:chOff x="0" y="0"/>
            <a:chExt cx="4816593" cy="16603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660361"/>
            </a:xfrm>
            <a:custGeom>
              <a:avLst/>
              <a:gdLst/>
              <a:ahLst/>
              <a:cxnLst/>
              <a:rect l="l" t="t" r="r" b="b"/>
              <a:pathLst>
                <a:path w="4816592" h="1660361">
                  <a:moveTo>
                    <a:pt x="0" y="0"/>
                  </a:moveTo>
                  <a:lnTo>
                    <a:pt x="4816592" y="0"/>
                  </a:lnTo>
                  <a:lnTo>
                    <a:pt x="4816592" y="1660361"/>
                  </a:lnTo>
                  <a:lnTo>
                    <a:pt x="0" y="1660361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4816593" cy="1660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35960" y="4760336"/>
            <a:ext cx="446166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 dirty="0" err="1">
                <a:solidFill>
                  <a:srgbClr val="4A639F"/>
                </a:solidFill>
                <a:latin typeface="思源黑体 1 Bold"/>
                <a:ea typeface="思源黑体 1 Bold"/>
                <a:cs typeface="思源黑体 1 Bold"/>
                <a:sym typeface="思源黑体 1 Bold"/>
              </a:rPr>
              <a:t>选题的背景意义</a:t>
            </a:r>
            <a:endParaRPr lang="en-US" sz="4400" b="1" dirty="0">
              <a:solidFill>
                <a:srgbClr val="4A639F"/>
              </a:solidFill>
              <a:latin typeface="思源黑体 1 Bold"/>
              <a:ea typeface="思源黑体 1 Bold"/>
              <a:cs typeface="思源黑体 1 Bold"/>
              <a:sym typeface="思源黑体 1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235960" y="5493252"/>
            <a:ext cx="5974206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262626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Background significance of the topic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14033" y="4641273"/>
            <a:ext cx="1621926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1" dirty="0">
                <a:solidFill>
                  <a:srgbClr val="4A639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01.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27994" y="4760336"/>
            <a:ext cx="446166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 dirty="0" err="1">
                <a:solidFill>
                  <a:srgbClr val="4A639F"/>
                </a:solidFill>
                <a:latin typeface="思源黑体 1 Bold"/>
                <a:ea typeface="思源黑体 1 Bold"/>
                <a:cs typeface="思源黑体 1 Bold"/>
                <a:sym typeface="思源黑体 1 Bold"/>
              </a:rPr>
              <a:t>研究方法与过程</a:t>
            </a:r>
            <a:endParaRPr lang="en-US" sz="4400" b="1" dirty="0">
              <a:solidFill>
                <a:srgbClr val="4A639F"/>
              </a:solidFill>
              <a:latin typeface="思源黑体 1 Bold"/>
              <a:ea typeface="思源黑体 1 Bold"/>
              <a:cs typeface="思源黑体 1 Bold"/>
              <a:sym typeface="思源黑体 1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627994" y="5493252"/>
            <a:ext cx="5974206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262626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Research method and process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06068" y="4641273"/>
            <a:ext cx="1621926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1" dirty="0">
                <a:solidFill>
                  <a:srgbClr val="4A639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02.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35960" y="6457976"/>
            <a:ext cx="446166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 dirty="0" err="1">
                <a:solidFill>
                  <a:srgbClr val="4A639F"/>
                </a:solidFill>
                <a:latin typeface="思源黑体 1 Bold"/>
                <a:ea typeface="思源黑体 1 Bold"/>
                <a:cs typeface="思源黑体 1 Bold"/>
                <a:sym typeface="思源黑体 1 Bold"/>
              </a:rPr>
              <a:t>研究成果与展示</a:t>
            </a:r>
            <a:endParaRPr lang="en-US" sz="4400" b="1" dirty="0">
              <a:solidFill>
                <a:srgbClr val="4A639F"/>
              </a:solidFill>
              <a:latin typeface="思源黑体 1 Bold"/>
              <a:ea typeface="思源黑体 1 Bold"/>
              <a:cs typeface="思源黑体 1 Bold"/>
              <a:sym typeface="思源黑体 1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235960" y="7190891"/>
            <a:ext cx="5974206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262626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Research results and presentation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14033" y="6338913"/>
            <a:ext cx="1621926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1" dirty="0">
                <a:solidFill>
                  <a:srgbClr val="4A639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03.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27994" y="6457976"/>
            <a:ext cx="446166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 dirty="0" err="1">
                <a:solidFill>
                  <a:srgbClr val="4A639F"/>
                </a:solidFill>
                <a:latin typeface="思源黑体 1 Bold"/>
                <a:ea typeface="思源黑体 1 Bold"/>
                <a:cs typeface="思源黑体 1 Bold"/>
                <a:sym typeface="思源黑体 1 Bold"/>
              </a:rPr>
              <a:t>论文总结与致谢</a:t>
            </a:r>
            <a:endParaRPr lang="en-US" sz="4400" b="1" dirty="0">
              <a:solidFill>
                <a:srgbClr val="4A639F"/>
              </a:solidFill>
              <a:latin typeface="思源黑体 1 Bold"/>
              <a:ea typeface="思源黑体 1 Bold"/>
              <a:cs typeface="思源黑体 1 Bold"/>
              <a:sym typeface="思源黑体 1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627994" y="7190891"/>
            <a:ext cx="5974206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262626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Paper summary and acknowledgments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06068" y="6338913"/>
            <a:ext cx="1621926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1" dirty="0">
                <a:solidFill>
                  <a:srgbClr val="4A639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04.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22623" y="2491246"/>
            <a:ext cx="4052299" cy="1593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2"/>
              </a:lnSpc>
            </a:pPr>
            <a:r>
              <a:rPr lang="en-US" sz="10902" b="1" dirty="0" err="1">
                <a:solidFill>
                  <a:srgbClr val="4A639F"/>
                </a:solidFill>
                <a:latin typeface="思源黑体 1 Bold"/>
                <a:ea typeface="思源黑体 1 Bold"/>
                <a:cs typeface="思源黑体 1 Bold"/>
                <a:sym typeface="思源黑体 1 Bold"/>
              </a:rPr>
              <a:t>目录</a:t>
            </a:r>
            <a:endParaRPr lang="en-US" sz="10902" b="1" dirty="0">
              <a:solidFill>
                <a:srgbClr val="4A639F"/>
              </a:solidFill>
              <a:latin typeface="思源黑体 1 Bold"/>
              <a:ea typeface="思源黑体 1 Bold"/>
              <a:cs typeface="思源黑体 1 Bold"/>
              <a:sym typeface="思源黑体 1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822623" y="559665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选题的背景意义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30842" y="559665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研究方法与过程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672307" y="717975"/>
            <a:ext cx="2943385" cy="294338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001773" y="559665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研究成果与展示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909992" y="559665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论文总结与致谢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8814100"/>
            <a:ext cx="18288000" cy="1472900"/>
            <a:chOff x="0" y="0"/>
            <a:chExt cx="4816593" cy="38792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816592" cy="387924"/>
            </a:xfrm>
            <a:custGeom>
              <a:avLst/>
              <a:gdLst/>
              <a:ahLst/>
              <a:cxnLst/>
              <a:rect l="l" t="t" r="r" b="b"/>
              <a:pathLst>
                <a:path w="4816592" h="387924">
                  <a:moveTo>
                    <a:pt x="0" y="0"/>
                  </a:moveTo>
                  <a:lnTo>
                    <a:pt x="4816592" y="0"/>
                  </a:lnTo>
                  <a:lnTo>
                    <a:pt x="4816592" y="387924"/>
                  </a:lnTo>
                  <a:lnTo>
                    <a:pt x="0" y="387924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4816593" cy="387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8030144" y="1028700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174" t="-5498" r="-8582" b="-8905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385AB22F-F207-D175-F728-29B385AC3C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" t="12984" r="100" b="9663"/>
          <a:stretch>
            <a:fillRect/>
          </a:stretch>
        </p:blipFill>
        <p:spPr>
          <a:xfrm>
            <a:off x="-4" y="1028700"/>
            <a:ext cx="18145126" cy="7758684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0" y="1991409"/>
            <a:ext cx="18288000" cy="6304182"/>
            <a:chOff x="0" y="0"/>
            <a:chExt cx="4816593" cy="16603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660361"/>
            </a:xfrm>
            <a:custGeom>
              <a:avLst/>
              <a:gdLst/>
              <a:ahLst/>
              <a:cxnLst/>
              <a:rect l="l" t="t" r="r" b="b"/>
              <a:pathLst>
                <a:path w="4816592" h="1660361">
                  <a:moveTo>
                    <a:pt x="0" y="0"/>
                  </a:moveTo>
                  <a:lnTo>
                    <a:pt x="4816592" y="0"/>
                  </a:lnTo>
                  <a:lnTo>
                    <a:pt x="4816592" y="1660361"/>
                  </a:lnTo>
                  <a:lnTo>
                    <a:pt x="0" y="1660361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4816593" cy="1660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72307" y="816840"/>
            <a:ext cx="2943385" cy="294338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822623" y="559665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选题的背景意义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30842" y="559665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研究方法与过程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01773" y="559665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研究成果与展示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909992" y="559665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论文总结与致谢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0" y="8814100"/>
            <a:ext cx="18288000" cy="1472900"/>
            <a:chOff x="0" y="0"/>
            <a:chExt cx="4816593" cy="38792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16592" cy="387924"/>
            </a:xfrm>
            <a:custGeom>
              <a:avLst/>
              <a:gdLst/>
              <a:ahLst/>
              <a:cxnLst/>
              <a:rect l="l" t="t" r="r" b="b"/>
              <a:pathLst>
                <a:path w="4816592" h="387924">
                  <a:moveTo>
                    <a:pt x="0" y="0"/>
                  </a:moveTo>
                  <a:lnTo>
                    <a:pt x="4816592" y="0"/>
                  </a:lnTo>
                  <a:lnTo>
                    <a:pt x="4816592" y="387924"/>
                  </a:lnTo>
                  <a:lnTo>
                    <a:pt x="0" y="387924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4816593" cy="387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609609" y="9341953"/>
            <a:ext cx="9068783" cy="32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800" b="1" spc="21">
                <a:solidFill>
                  <a:srgbClr val="FFFFFF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BACKGROUND SIGNIFICANCE OF THE TOPIC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997237" y="4225771"/>
            <a:ext cx="8003970" cy="1324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692"/>
              </a:lnSpc>
              <a:spcBef>
                <a:spcPct val="0"/>
              </a:spcBef>
            </a:pPr>
            <a:r>
              <a:rPr lang="en-US" sz="8100" b="1" dirty="0" err="1">
                <a:solidFill>
                  <a:srgbClr val="4A639F"/>
                </a:solidFill>
                <a:latin typeface="思源黑体 2 Bold"/>
                <a:ea typeface="思源黑体 2 Bold"/>
                <a:cs typeface="思源黑体 2 Bold"/>
                <a:sym typeface="思源黑体 2 Bold"/>
              </a:rPr>
              <a:t>选题的背景意义</a:t>
            </a:r>
            <a:endParaRPr lang="en-US" sz="8100" b="1" dirty="0">
              <a:solidFill>
                <a:srgbClr val="4A639F"/>
              </a:solidFill>
              <a:latin typeface="思源黑体 2 Bold"/>
              <a:ea typeface="思源黑体 2 Bold"/>
              <a:cs typeface="思源黑体 2 Bold"/>
              <a:sym typeface="思源黑体 2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997237" y="6434639"/>
            <a:ext cx="6538256" cy="344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1700">
                <a:solidFill>
                  <a:srgbClr val="1E1E1E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xxx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97237" y="5682181"/>
            <a:ext cx="5974206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4A639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BACKGROUND SIGNIFICANCE OF THE TOPIC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983979" y="3601765"/>
            <a:ext cx="3481398" cy="4043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171"/>
              </a:lnSpc>
            </a:pPr>
            <a:r>
              <a:rPr lang="en-US" sz="23475" b="1">
                <a:solidFill>
                  <a:srgbClr val="4A639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01</a:t>
            </a:r>
          </a:p>
        </p:txBody>
      </p:sp>
      <p:sp>
        <p:nvSpPr>
          <p:cNvPr id="26" name="Freeform 26"/>
          <p:cNvSpPr/>
          <p:nvPr/>
        </p:nvSpPr>
        <p:spPr>
          <a:xfrm>
            <a:off x="8030144" y="1028700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174" t="-5498" r="-8582" b="-8905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10041675"/>
            <a:ext cx="18288000" cy="245325"/>
            <a:chOff x="0" y="0"/>
            <a:chExt cx="4816593" cy="646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743424" y="3223267"/>
            <a:ext cx="6594280" cy="5709723"/>
            <a:chOff x="0" y="0"/>
            <a:chExt cx="1736765" cy="15037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36765" cy="1503795"/>
            </a:xfrm>
            <a:custGeom>
              <a:avLst/>
              <a:gdLst/>
              <a:ahLst/>
              <a:cxnLst/>
              <a:rect l="l" t="t" r="r" b="b"/>
              <a:pathLst>
                <a:path w="1736765" h="1503795">
                  <a:moveTo>
                    <a:pt x="0" y="0"/>
                  </a:moveTo>
                  <a:lnTo>
                    <a:pt x="1736765" y="0"/>
                  </a:lnTo>
                  <a:lnTo>
                    <a:pt x="1736765" y="1503795"/>
                  </a:lnTo>
                  <a:lnTo>
                    <a:pt x="0" y="1503795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736765" cy="1551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7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13318" y="3543744"/>
            <a:ext cx="778092" cy="77809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7E93C6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13318" y="6430701"/>
            <a:ext cx="778092" cy="77809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353808" y="6567055"/>
            <a:ext cx="497113" cy="505383"/>
          </a:xfrm>
          <a:custGeom>
            <a:avLst/>
            <a:gdLst/>
            <a:ahLst/>
            <a:cxnLst/>
            <a:rect l="l" t="t" r="r" b="b"/>
            <a:pathLst>
              <a:path w="497113" h="505383">
                <a:moveTo>
                  <a:pt x="0" y="0"/>
                </a:moveTo>
                <a:lnTo>
                  <a:pt x="497112" y="0"/>
                </a:lnTo>
                <a:lnTo>
                  <a:pt x="497112" y="505383"/>
                </a:lnTo>
                <a:lnTo>
                  <a:pt x="0" y="5053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349673" y="3680099"/>
            <a:ext cx="505383" cy="505383"/>
          </a:xfrm>
          <a:custGeom>
            <a:avLst/>
            <a:gdLst/>
            <a:ahLst/>
            <a:cxnLst/>
            <a:rect l="l" t="t" r="r" b="b"/>
            <a:pathLst>
              <a:path w="505383" h="505383">
                <a:moveTo>
                  <a:pt x="0" y="0"/>
                </a:moveTo>
                <a:lnTo>
                  <a:pt x="505382" y="0"/>
                </a:lnTo>
                <a:lnTo>
                  <a:pt x="505382" y="505382"/>
                </a:lnTo>
                <a:lnTo>
                  <a:pt x="0" y="5053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822623" y="559665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选题的背景意义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30842" y="559665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研究方法与过程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001773" y="559665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研究成果与展示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909992" y="559665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论文总结与致谢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82876" y="1304925"/>
            <a:ext cx="6122248" cy="790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1" dirty="0" err="1">
                <a:solidFill>
                  <a:srgbClr val="4A639F"/>
                </a:solidFill>
                <a:latin typeface="思源黑体 1 Heavy"/>
                <a:ea typeface="思源黑体 1 Heavy"/>
                <a:cs typeface="思源黑体 1 Heavy"/>
                <a:sym typeface="思源黑体 1 Heavy"/>
              </a:rPr>
              <a:t>选题的背景意义</a:t>
            </a:r>
            <a:endParaRPr lang="en-US" sz="5199" b="1" dirty="0">
              <a:solidFill>
                <a:srgbClr val="4A639F"/>
              </a:solidFill>
              <a:latin typeface="思源黑体 1 Heavy"/>
              <a:ea typeface="思源黑体 1 Heavy"/>
              <a:cs typeface="思源黑体 1 Heavy"/>
              <a:sym typeface="思源黑体 1 Heavy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296210" y="3950229"/>
            <a:ext cx="5405439" cy="1791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6"/>
              </a:lnSpc>
            </a:pPr>
            <a:r>
              <a:rPr lang="en-US" sz="1700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，演讲，报告等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296210" y="3388400"/>
            <a:ext cx="3118788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2800" b="1" dirty="0" err="1">
                <a:solidFill>
                  <a:srgbClr val="4A639F"/>
                </a:solidFill>
                <a:latin typeface="思源黑体 1 Bold"/>
                <a:ea typeface="思源黑体 1 Bold"/>
                <a:cs typeface="思源黑体 1 Bold"/>
                <a:sym typeface="思源黑体 1 Bold"/>
              </a:rPr>
              <a:t>选题背景内容概括</a:t>
            </a:r>
            <a:endParaRPr lang="en-US" sz="2800" b="1" dirty="0">
              <a:solidFill>
                <a:srgbClr val="4A639F"/>
              </a:solidFill>
              <a:latin typeface="思源黑体 1 Bold"/>
              <a:ea typeface="思源黑体 1 Bold"/>
              <a:cs typeface="思源黑体 1 Bold"/>
              <a:sym typeface="思源黑体 1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296210" y="6890290"/>
            <a:ext cx="5405439" cy="1791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6"/>
              </a:lnSpc>
            </a:pPr>
            <a:r>
              <a:rPr lang="en-US" sz="1700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，演讲，报告等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96210" y="6332507"/>
            <a:ext cx="3118788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2800" b="1" dirty="0" err="1">
                <a:solidFill>
                  <a:srgbClr val="4A639F"/>
                </a:solidFill>
                <a:latin typeface="思源黑体 1 Bold"/>
                <a:ea typeface="思源黑体 1 Bold"/>
                <a:cs typeface="思源黑体 1 Bold"/>
                <a:sym typeface="思源黑体 1 Bold"/>
              </a:rPr>
              <a:t>选题意义内容概括</a:t>
            </a:r>
            <a:endParaRPr lang="en-US" sz="2800" b="1" dirty="0">
              <a:solidFill>
                <a:srgbClr val="4A639F"/>
              </a:solidFill>
              <a:latin typeface="思源黑体 1 Bold"/>
              <a:ea typeface="思源黑体 1 Bold"/>
              <a:cs typeface="思源黑体 1 Bold"/>
              <a:sym typeface="思源黑体 1 Bold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EC8F2DC6-51D3-1F5A-8194-B213A268F6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13" t="13680" r="13750"/>
          <a:stretch>
            <a:fillRect/>
          </a:stretch>
        </p:blipFill>
        <p:spPr>
          <a:xfrm>
            <a:off x="9029701" y="3444335"/>
            <a:ext cx="7686606" cy="52745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22623" y="559665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选题的背景意义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30842" y="559665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研究方法与过程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01773" y="559665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研究成果与展示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09992" y="559665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论文总结与致谢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082876" y="1304925"/>
            <a:ext cx="6122248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1" dirty="0" err="1">
                <a:solidFill>
                  <a:srgbClr val="4A639F"/>
                </a:solidFill>
                <a:latin typeface="思源黑体 1 Heavy"/>
                <a:ea typeface="思源黑体 1 Heavy"/>
                <a:cs typeface="思源黑体 1 Heavy"/>
                <a:sym typeface="思源黑体 1 Heavy"/>
              </a:rPr>
              <a:t>研究方法与过程</a:t>
            </a:r>
            <a:endParaRPr lang="en-US" sz="5199" b="1" dirty="0">
              <a:solidFill>
                <a:srgbClr val="4A639F"/>
              </a:solidFill>
              <a:latin typeface="思源黑体 1 Heavy"/>
              <a:ea typeface="思源黑体 1 Heavy"/>
              <a:cs typeface="思源黑体 1 Heavy"/>
              <a:sym typeface="思源黑体 1 Heavy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0" y="10041675"/>
            <a:ext cx="18288000" cy="245325"/>
            <a:chOff x="0" y="0"/>
            <a:chExt cx="4816593" cy="646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730" y="2715598"/>
            <a:ext cx="2351956" cy="2351956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403164" y="3505740"/>
            <a:ext cx="1383088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7"/>
              </a:lnSpc>
              <a:spcBef>
                <a:spcPct val="0"/>
              </a:spcBef>
            </a:pPr>
            <a:r>
              <a:rPr lang="en-US" sz="3755" b="1">
                <a:solidFill>
                  <a:srgbClr val="262626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89%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18208" y="3567081"/>
            <a:ext cx="11555066" cy="106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56"/>
              </a:lnSpc>
              <a:spcBef>
                <a:spcPct val="0"/>
              </a:spcBef>
            </a:pPr>
            <a:r>
              <a:rPr lang="en-US" sz="1700" u="none" strike="noStrike">
                <a:solidFill>
                  <a:srgbClr val="262626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演示文稿是一种实用的工具，可以是演示，演讲，报告等。大部分时间，它们都是在为观众服务。演示文稿是一种实用的工具。演示文稿是一种实用的工具，可以是演示，演讲，报告等。大部分时间，它们都是在为观众服务。演示文稿是一种实用的工具，可以是演示，演讲，报告等。大部分时间，它们都是在为观众服务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8208" y="2986202"/>
            <a:ext cx="3626129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68"/>
              </a:lnSpc>
              <a:spcBef>
                <a:spcPct val="0"/>
              </a:spcBef>
            </a:pPr>
            <a:r>
              <a:rPr lang="en-US" sz="2800" b="1" dirty="0" err="1">
                <a:solidFill>
                  <a:srgbClr val="4A639F"/>
                </a:solidFill>
                <a:latin typeface="思源黑体 1 Bold"/>
                <a:ea typeface="思源黑体 1 Bold"/>
                <a:cs typeface="思源黑体 1 Bold"/>
                <a:sym typeface="思源黑体 1 Bold"/>
              </a:rPr>
              <a:t>关键词</a:t>
            </a:r>
            <a:r>
              <a:rPr lang="en-US" sz="2800" b="1" u="none" strike="noStrike" dirty="0" err="1">
                <a:solidFill>
                  <a:srgbClr val="4A639F"/>
                </a:solidFill>
                <a:latin typeface="思源黑体 1 Bold"/>
                <a:ea typeface="思源黑体 1 Bold"/>
                <a:cs typeface="思源黑体 1 Bold"/>
                <a:sym typeface="思源黑体 1 Bold"/>
              </a:rPr>
              <a:t>一</a:t>
            </a:r>
            <a:endParaRPr lang="en-US" sz="2800" b="1" u="none" strike="noStrike" dirty="0">
              <a:solidFill>
                <a:srgbClr val="4A639F"/>
              </a:solidFill>
              <a:latin typeface="思源黑体 1 Bold"/>
              <a:ea typeface="思源黑体 1 Bold"/>
              <a:cs typeface="思源黑体 1 Bold"/>
              <a:sym typeface="思源黑体 1 Bold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7315" y="4890584"/>
            <a:ext cx="2351956" cy="2351956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4501748" y="5680726"/>
            <a:ext cx="1383088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7"/>
              </a:lnSpc>
              <a:spcBef>
                <a:spcPct val="0"/>
              </a:spcBef>
            </a:pPr>
            <a:r>
              <a:rPr lang="en-US" sz="3755" b="1">
                <a:solidFill>
                  <a:srgbClr val="262626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68%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14726" y="5742067"/>
            <a:ext cx="11555066" cy="106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56"/>
              </a:lnSpc>
              <a:spcBef>
                <a:spcPct val="0"/>
              </a:spcBef>
            </a:pPr>
            <a:r>
              <a:rPr lang="en-US" sz="1700" u="none" strike="noStrike">
                <a:solidFill>
                  <a:srgbClr val="262626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演示文稿是一种实用的工具，可以是演示，演讲，报告等。大部分时间，它们都是在为观众服务。演示文稿是一种实用的工具。演示文稿是一种实用的工具，可以是演示，演讲，报告等。大部分时间，它们都是在为观众服务。演示文稿是一种实用的工具，可以是演示，演讲，报告等。大部分时间，它们都是在为观众服务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59070" y="5161188"/>
            <a:ext cx="381072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368"/>
              </a:lnSpc>
              <a:spcBef>
                <a:spcPct val="0"/>
              </a:spcBef>
            </a:pPr>
            <a:r>
              <a:rPr lang="en-US" sz="2800" b="1" dirty="0" err="1">
                <a:solidFill>
                  <a:srgbClr val="4A639F"/>
                </a:solidFill>
                <a:latin typeface="思源黑体 1 Bold"/>
                <a:ea typeface="思源黑体 1 Bold"/>
                <a:cs typeface="思源黑体 1 Bold"/>
                <a:sym typeface="思源黑体 1 Bold"/>
              </a:rPr>
              <a:t>关键词二</a:t>
            </a:r>
            <a:endParaRPr lang="en-US" sz="2800" b="1" dirty="0">
              <a:solidFill>
                <a:srgbClr val="4A639F"/>
              </a:solidFill>
              <a:latin typeface="思源黑体 1 Bold"/>
              <a:ea typeface="思源黑体 1 Bold"/>
              <a:cs typeface="思源黑体 1 Bold"/>
              <a:sym typeface="思源黑体 1 Bold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730" y="7069622"/>
            <a:ext cx="2351956" cy="2351956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2403164" y="7859764"/>
            <a:ext cx="1383088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7"/>
              </a:lnSpc>
              <a:spcBef>
                <a:spcPct val="0"/>
              </a:spcBef>
            </a:pPr>
            <a:r>
              <a:rPr lang="en-US" sz="3755" b="1">
                <a:solidFill>
                  <a:srgbClr val="262626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95%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8208" y="7921105"/>
            <a:ext cx="11555066" cy="106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56"/>
              </a:lnSpc>
              <a:spcBef>
                <a:spcPct val="0"/>
              </a:spcBef>
            </a:pPr>
            <a:r>
              <a:rPr lang="en-US" sz="1700" u="none" strike="noStrike">
                <a:solidFill>
                  <a:srgbClr val="262626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演示文稿是一种实用的工具，可以是演示，演讲，报告等。大部分时间，它们都是在为观众服务。演示文稿是一种实用的工具。演示文稿是一种实用的工具，可以是演示，演讲，报告等。大部分时间，它们都是在为观众服务。演示文稿是一种实用的工具，可以是演示，演讲，报告等。大部分时间，它们都是在为观众服务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18208" y="7340226"/>
            <a:ext cx="3626129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68"/>
              </a:lnSpc>
              <a:spcBef>
                <a:spcPct val="0"/>
              </a:spcBef>
            </a:pPr>
            <a:r>
              <a:rPr lang="en-US" sz="2800" b="1" dirty="0" err="1">
                <a:solidFill>
                  <a:srgbClr val="4A639F"/>
                </a:solidFill>
                <a:latin typeface="思源黑体 1 Bold"/>
                <a:ea typeface="思源黑体 1 Bold"/>
                <a:cs typeface="思源黑体 1 Bold"/>
                <a:sym typeface="思源黑体 1 Bold"/>
              </a:rPr>
              <a:t>关键词</a:t>
            </a:r>
            <a:r>
              <a:rPr lang="en-US" sz="2800" b="1" u="none" strike="noStrike" dirty="0" err="1">
                <a:solidFill>
                  <a:srgbClr val="4A639F"/>
                </a:solidFill>
                <a:latin typeface="思源黑体 1 Bold"/>
                <a:ea typeface="思源黑体 1 Bold"/>
                <a:cs typeface="思源黑体 1 Bold"/>
                <a:sym typeface="思源黑体 1 Bold"/>
              </a:rPr>
              <a:t>三</a:t>
            </a:r>
            <a:endParaRPr lang="en-US" sz="2800" b="1" u="none" strike="noStrike" dirty="0">
              <a:solidFill>
                <a:srgbClr val="4A639F"/>
              </a:solidFill>
              <a:latin typeface="思源黑体 1 Bold"/>
              <a:ea typeface="思源黑体 1 Bold"/>
              <a:cs typeface="思源黑体 1 Bold"/>
              <a:sym typeface="思源黑体 1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10041675"/>
            <a:ext cx="18288000" cy="245325"/>
            <a:chOff x="0" y="0"/>
            <a:chExt cx="4816593" cy="646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587533" y="2409825"/>
            <a:ext cx="13112934" cy="3657457"/>
          </a:xfrm>
          <a:custGeom>
            <a:avLst/>
            <a:gdLst/>
            <a:ahLst/>
            <a:cxnLst/>
            <a:rect l="l" t="t" r="r" b="b"/>
            <a:pathLst>
              <a:path w="13112934" h="3657457">
                <a:moveTo>
                  <a:pt x="0" y="0"/>
                </a:moveTo>
                <a:lnTo>
                  <a:pt x="13112934" y="0"/>
                </a:lnTo>
                <a:lnTo>
                  <a:pt x="13112934" y="3657457"/>
                </a:lnTo>
                <a:lnTo>
                  <a:pt x="0" y="365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</a:blip>
            <a:stretch>
              <a:fillRect t="-38233" r="-7365" b="-67290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2083506" y="5654067"/>
            <a:ext cx="14120987" cy="3547083"/>
            <a:chOff x="0" y="0"/>
            <a:chExt cx="3719108" cy="9342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719108" cy="934211"/>
            </a:xfrm>
            <a:custGeom>
              <a:avLst/>
              <a:gdLst/>
              <a:ahLst/>
              <a:cxnLst/>
              <a:rect l="l" t="t" r="r" b="b"/>
              <a:pathLst>
                <a:path w="3719108" h="934211">
                  <a:moveTo>
                    <a:pt x="0" y="0"/>
                  </a:moveTo>
                  <a:lnTo>
                    <a:pt x="3719108" y="0"/>
                  </a:lnTo>
                  <a:lnTo>
                    <a:pt x="3719108" y="934211"/>
                  </a:lnTo>
                  <a:lnTo>
                    <a:pt x="0" y="934211"/>
                  </a:lnTo>
                  <a:close/>
                </a:path>
              </a:pathLst>
            </a:custGeom>
            <a:solidFill>
              <a:srgbClr val="4A639F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719108" cy="962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822623" y="559665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选题的背景意义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30842" y="559665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研究方法与过程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01773" y="559665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研究成果与展示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09992" y="559665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1926">
                <a:solidFill>
                  <a:srgbClr val="100F0D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论文总结与致谢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82876" y="1304925"/>
            <a:ext cx="6122248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1" dirty="0" err="1">
                <a:solidFill>
                  <a:srgbClr val="4A639F"/>
                </a:solidFill>
                <a:latin typeface="思源黑体 1 Heavy"/>
                <a:ea typeface="思源黑体 1 Heavy"/>
                <a:cs typeface="思源黑体 1 Heavy"/>
                <a:sym typeface="思源黑体 1 Heavy"/>
              </a:rPr>
              <a:t>论文总结与致谢</a:t>
            </a:r>
            <a:endParaRPr lang="en-US" sz="5199" b="1" dirty="0">
              <a:solidFill>
                <a:srgbClr val="4A639F"/>
              </a:solidFill>
              <a:latin typeface="思源黑体 1 Heavy"/>
              <a:ea typeface="思源黑体 1 Heavy"/>
              <a:cs typeface="思源黑体 1 Heavy"/>
              <a:sym typeface="思源黑体 1 Heavy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711918" y="6782004"/>
            <a:ext cx="12864164" cy="1791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56"/>
              </a:lnSpc>
              <a:spcBef>
                <a:spcPct val="0"/>
              </a:spcBef>
            </a:pPr>
            <a:r>
              <a:rPr lang="en-US" sz="1700" u="none" strike="noStrike">
                <a:solidFill>
                  <a:srgbClr val="FFFFFF"/>
                </a:solidFill>
                <a:latin typeface="思源黑体 1"/>
                <a:ea typeface="思源黑体 1"/>
                <a:cs typeface="思源黑体 1"/>
                <a:sym typeface="思源黑体 1"/>
              </a:rPr>
              <a:t>演示文稿是一种实用的工具，可以是演示，演讲，报告等。大部分时间，它们都是在为观众服务。演示文稿是一种实用的工具，可以是演示，演讲，报告等大部分时间，它们都是在为观众服务。演示文稿是一种实用的工具，可以是演示，演讲，报告等。大部分时间，它们都是在为观众服务。演示文稿是一种实用的工具，可以是演示，演讲，报告等大部分时间，它们都是在为观众服务。演示文稿是一种实用的工具，可以是演示，演讲，报告等。大部分时间，它们都是在为观众服务。演示文稿是一种实用的工具，可以是演示，演讲，报告等大部分时间，它们都是在为观众服务。演示文稿是一种实用的工具，可以是演示，演讲，报告等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8179" y="6138496"/>
            <a:ext cx="419164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</a:pPr>
            <a:r>
              <a:rPr lang="en-US" sz="2800" b="1">
                <a:solidFill>
                  <a:srgbClr val="FFFFFF"/>
                </a:solidFill>
                <a:latin typeface="思源黑体 1 Bold"/>
                <a:ea typeface="思源黑体 1 Bold"/>
                <a:cs typeface="思源黑体 1 Bold"/>
                <a:sym typeface="思源黑体 1 Bold"/>
              </a:rPr>
              <a:t>论文总结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344</Words>
  <Application>Microsoft Office PowerPoint</Application>
  <PresentationFormat>自定义</PresentationFormat>
  <Paragraphs>64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思源黑体 2 Bold</vt:lpstr>
      <vt:lpstr>Akzidenz-Grotesk</vt:lpstr>
      <vt:lpstr>Calibri</vt:lpstr>
      <vt:lpstr>思源黑体 1 Bold</vt:lpstr>
      <vt:lpstr>思源黑体 1 Heavy</vt:lpstr>
      <vt:lpstr>思源黑体 1</vt:lpstr>
      <vt:lpstr>Akzidenz-Grotesk Medium</vt:lpstr>
      <vt:lpstr>Akzidenz-Grotesk Heavy</vt:lpstr>
      <vt:lpstr>Akzidenz-Grotesk Bold</vt:lpstr>
      <vt:lpstr>思源黑体 1 Medium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学术风毕业论文答辩</dc:title>
  <cp:lastModifiedBy/>
  <cp:revision>3</cp:revision>
  <dcterms:created xsi:type="dcterms:W3CDTF">2006-08-16T00:00:00Z</dcterms:created>
  <dcterms:modified xsi:type="dcterms:W3CDTF">2026-03-30T04:33:00Z</dcterms:modified>
  <dc:identifier>DAHEYYKhIwo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{"Label":"1","ContentProducer":"001191110105MA01AN806X00000","ProduceID":"DAHEYYKhIwo","ReservedCode1":"","ContentPropagator":"001191110105MA01AN806X00000","PropagateID":"DAHEYYKhIwo","ReservedCode2":""}</vt:lpwstr>
  </property>
</Properties>
</file>